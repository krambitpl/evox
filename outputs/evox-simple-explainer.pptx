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0f9a5f43fb48ab" /><Relationship Type="http://schemas.openxmlformats.org/officeDocument/2006/relationships/extended-properties" Target="/docProps/app.xml" Id="R345f9fe872134583" /><Relationship Type="http://schemas.openxmlformats.org/officeDocument/2006/relationships/officeDocument" Target="/ppt/presentation.xml" Id="Radcffff066c748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bffb9bddc24aca"/>
  </p:sldMasterIdLst>
  <p:notesMasterIdLst>
    <p:notesMasterId xmlns:r="http://schemas.openxmlformats.org/officeDocument/2006/relationships" r:id="R0a9e1b5096fa4fcd"/>
  </p:notesMasterIdLst>
  <p:sldIdLst>
    <p:sldId xmlns:r="http://schemas.openxmlformats.org/officeDocument/2006/relationships" id="256" r:id="Re64e27d6a7d44e74"/>
    <p:sldId xmlns:r="http://schemas.openxmlformats.org/officeDocument/2006/relationships" id="257" r:id="Ra07cf8026670433b"/>
    <p:sldId xmlns:r="http://schemas.openxmlformats.org/officeDocument/2006/relationships" id="258" r:id="R74a209f29d8d44d9"/>
    <p:sldId xmlns:r="http://schemas.openxmlformats.org/officeDocument/2006/relationships" id="259" r:id="R85aa0a7e44684d6b"/>
    <p:sldId xmlns:r="http://schemas.openxmlformats.org/officeDocument/2006/relationships" id="260" r:id="R0748647d19bf497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b8e1ceaba1428e" /><Relationship Type="http://schemas.openxmlformats.org/officeDocument/2006/relationships/slideMaster" Target="/ppt/slideMasters/slideMaster1.xml" Id="Rdebffb9bddc24aca" /><Relationship Type="http://schemas.openxmlformats.org/officeDocument/2006/relationships/notesMaster" Target="/ppt/notesMasters/notesMaster1.xml" Id="R0a9e1b5096fa4fcd" /><Relationship Type="http://schemas.openxmlformats.org/officeDocument/2006/relationships/presProps" Target="/ppt/presProps.xml" Id="Rf8d28da854cc44bf" /><Relationship Type="http://schemas.openxmlformats.org/officeDocument/2006/relationships/tableStyles" Target="/ppt/tableStyles.xml" Id="R70c8defadcc64fa9" /><Relationship Type="http://schemas.openxmlformats.org/officeDocument/2006/relationships/slide" Target="/ppt/slides/slide1.xml" Id="Re64e27d6a7d44e74" /><Relationship Type="http://schemas.openxmlformats.org/officeDocument/2006/relationships/slide" Target="/ppt/slides/slide2.xml" Id="Ra07cf8026670433b" /><Relationship Type="http://schemas.openxmlformats.org/officeDocument/2006/relationships/slide" Target="/ppt/slides/slide3.xml" Id="R74a209f29d8d44d9" /><Relationship Type="http://schemas.openxmlformats.org/officeDocument/2006/relationships/slide" Target="/ppt/slides/slide4.xml" Id="R85aa0a7e44684d6b" /><Relationship Type="http://schemas.openxmlformats.org/officeDocument/2006/relationships/slide" Target="/ppt/slides/slide5.xml" Id="R0748647d19bf49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9e3a3ed3d84f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be18782dff4009" /><Relationship Type="http://schemas.openxmlformats.org/officeDocument/2006/relationships/notesMaster" Target="/ppt/notesMasters/notesMaster1.xml" Id="Re68179ff61a44b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45667ac31f413c" /><Relationship Type="http://schemas.openxmlformats.org/officeDocument/2006/relationships/notesMaster" Target="/ppt/notesMasters/notesMaster1.xml" Id="Rfd093379f29343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64ece256534934" /><Relationship Type="http://schemas.openxmlformats.org/officeDocument/2006/relationships/notesMaster" Target="/ppt/notesMasters/notesMaster1.xml" Id="Ra3c322bc2ffe41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0dab26b23e4ca2" /><Relationship Type="http://schemas.openxmlformats.org/officeDocument/2006/relationships/notesMaster" Target="/ppt/notesMasters/notesMaster1.xml" Id="R884547ad70154a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64262b5f574128" /><Relationship Type="http://schemas.openxmlformats.org/officeDocument/2006/relationships/notesMaster" Target="/ppt/notesMasters/notesMaster1.xml" Id="R0caef1dcc06f4d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complete product in one sentence: a problem goes in, an agentic system comes out, and measured outcomes improve later versions.</a:t>
            </a:r>
          </a:p>
          <a:p xmlns:a="http://schemas.openxmlformats.org/drawingml/2006/main">
            <a:r>
              <a:t>This deck explains the Evox product model, not live performance claims.</a:t>
            </a:r>
          </a:p>
          <a:p xmlns:a="http://schemas.openxmlformats.org/drawingml/2006/main">
            <a:r>
              <a:t>Sources: MISSION.md;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mission is measurable: it names the problem, success criteria, evidence, and authority boundaries.</a:t>
            </a:r>
          </a:p>
          <a:p xmlns:a="http://schemas.openxmlformats.org/drawingml/2006/main">
            <a:r>
              <a:t>The product is generic because these four inputs can describe many kinds of work.</a:t>
            </a:r>
          </a:p>
          <a:p xmlns:a="http://schemas.openxmlformats.org/drawingml/2006/main">
            <a:r>
              <a:t>Sources: MISSION.md;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Evox uses EvoAgentX to generate and evolve candidate workflows. The workflow may include multiple agents, models, tools, and human escalation.</a:t>
            </a:r>
          </a:p>
          <a:p xmlns:a="http://schemas.openxmlformats.org/drawingml/2006/main">
            <a:r>
              <a:t>The first proof is an issue resolver, but the mission contract is deliberately not business-specific.</a:t>
            </a:r>
          </a:p>
          <a:p xmlns:a="http://schemas.openxmlformats.org/drawingml/2006/main">
            <a:r>
              <a:t>Sources: MISSION.md;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crucial idea is that the success criteria stay fixed. A candidate cannot improve its score by changing the evaluator.</a:t>
            </a:r>
          </a:p>
          <a:p xmlns:a="http://schemas.openxmlformats.org/drawingml/2006/main">
            <a:r>
              <a:t>Success reinforces useful steps; failure becomes learning evidence; uncertainty reaches a human.</a:t>
            </a:r>
          </a:p>
          <a:p xmlns:a="http://schemas.openxmlformats.org/drawingml/2006/main">
            <a:r>
              <a:t>Sources: MISSION.md;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active system never silently edits itself. Evox creates a separate candidate, evaluates it on fixed evidence, and promotes it only if it proves better without crossing permissions or safety boundaries.</a:t>
            </a:r>
          </a:p>
          <a:p xmlns:a="http://schemas.openxmlformats.org/drawingml/2006/main">
            <a:r>
              <a:t>Close: the system learns how to work; the owner keeps control of what better means.</a:t>
            </a:r>
          </a:p>
          <a:p xmlns:a="http://schemas.openxmlformats.org/drawingml/2006/main">
            <a:r>
              <a:t>Sources: MISSION.md;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3c004eddac47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1095bbcd334a73" /><Relationship Type="http://schemas.openxmlformats.org/officeDocument/2006/relationships/slideLayout" Target="/ppt/slideLayouts/slideLayout1.xml" Id="R5e16e44dc7ca44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16e44dc7ca44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2b461e9574259" /><Relationship Type="http://schemas.openxmlformats.org/officeDocument/2006/relationships/notesSlide" Target="/ppt/notesSlides/notesSlide1.xml" Id="R9c8bced8f60f44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e23b9d78445a3" /><Relationship Type="http://schemas.openxmlformats.org/officeDocument/2006/relationships/notesSlide" Target="/ppt/notesSlides/notesSlide2.xml" Id="Rfdf6bf56bb5845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2ca89de0e24aa1" /><Relationship Type="http://schemas.openxmlformats.org/officeDocument/2006/relationships/notesSlide" Target="/ppt/notesSlides/notesSlide3.xml" Id="R1d5aeba78c4c43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a90c4bb67e411b" /><Relationship Type="http://schemas.openxmlformats.org/officeDocument/2006/relationships/notesSlide" Target="/ppt/notesSlides/notesSlide4.xml" Id="R79b9b03b55c94e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00980392d4454" /><Relationship Type="http://schemas.openxmlformats.org/officeDocument/2006/relationships/notesSlide" Target="/ppt/notesSlides/notesSlide5.xml" Id="Rbc159e78c1f643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wordmark-1">
            <a:extLst xmlns:a="http://schemas.openxmlformats.org/drawingml/2006/main">
              <a:ext uri="{FF2B5EF4-FFF2-40B4-BE49-F238E27FC236}">
                <a16:creationId xmlns:a16="http://schemas.microsoft.com/office/drawing/2014/main" id="{C81FD829-E771-4248-A180-B3D2FAB7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5EEF"/>
                </a:solidFill>
              </a:defRPr>
            </a:pPr>
            <a:r>
              <a:rPr sz="1275" b="1">
                <a:solidFill>
                  <a:srgbClr val="155EEF"/>
                </a:solidFill>
              </a:rPr>
              <a:t>EVOX</a:t>
            </a:r>
          </a:p>
        </p:txBody>
      </p:sp>
      <p:sp>
        <p:nvSpPr>
          <p:cNvPr id="2" name="page-1">
            <a:extLst xmlns:a="http://schemas.openxmlformats.org/drawingml/2006/main">
              <a:ext uri="{FF2B5EF4-FFF2-40B4-BE49-F238E27FC236}">
                <a16:creationId xmlns:a16="http://schemas.microsoft.com/office/drawing/2014/main" id="{C7CDACD8-A73A-4651-8CF7-63A58AA9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238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01 / 05</a:t>
            </a:r>
          </a:p>
        </p:txBody>
      </p:sp>
      <p:sp>
        <p:nvSpPr>
          <p:cNvPr id="3" name="top-line-1">
            <a:extLst xmlns:a="http://schemas.openxmlformats.org/drawingml/2006/main">
              <a:ext uri="{FF2B5EF4-FFF2-40B4-BE49-F238E27FC236}">
                <a16:creationId xmlns:a16="http://schemas.microsoft.com/office/drawing/2014/main" id="{42FA9816-775E-4318-ABCF-852B10F3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1">
            <a:extLst xmlns:a="http://schemas.openxmlformats.org/drawingml/2006/main">
              <a:ext uri="{FF2B5EF4-FFF2-40B4-BE49-F238E27FC236}">
                <a16:creationId xmlns:a16="http://schemas.microsoft.com/office/drawing/2014/main" id="{522DB42D-99DC-42B9-8D83-FC326A25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9906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1828"/>
                </a:solidFill>
              </a:defRPr>
            </a:pPr>
            <a:r>
              <a:rPr sz="4050" b="1">
                <a:solidFill>
                  <a:srgbClr val="101828"/>
                </a:solidFill>
              </a:rPr>
              <a:t>Evox takes a problem, builds an agentic system, and improves it.</a:t>
            </a:r>
          </a:p>
        </p:txBody>
      </p:sp>
      <p:sp>
        <p:nvSpPr>
          <p:cNvPr id="5" name="subtitle-1">
            <a:extLst xmlns:a="http://schemas.openxmlformats.org/drawingml/2006/main">
              <a:ext uri="{FF2B5EF4-FFF2-40B4-BE49-F238E27FC236}">
                <a16:creationId xmlns:a16="http://schemas.microsoft.com/office/drawing/2014/main" id="{BEB435AD-A935-4F08-A688-7B50BFEB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933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You define what success means. Evox turns that definition into a system that can learn from every measured result.</a:t>
            </a:r>
          </a:p>
        </p:txBody>
      </p:sp>
      <p:sp>
        <p:nvSpPr>
          <p:cNvPr id="6" name="problem-word">
            <a:extLst xmlns:a="http://schemas.openxmlformats.org/drawingml/2006/main">
              <a:ext uri="{FF2B5EF4-FFF2-40B4-BE49-F238E27FC236}">
                <a16:creationId xmlns:a16="http://schemas.microsoft.com/office/drawing/2014/main" id="{150BBACD-DFCC-4FBA-9538-FE5BADB3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PROBLEM</a:t>
            </a:r>
          </a:p>
        </p:txBody>
      </p:sp>
      <p:sp>
        <p:nvSpPr>
          <p:cNvPr id="7" name="arrow-1a">
            <a:extLst xmlns:a="http://schemas.openxmlformats.org/drawingml/2006/main">
              <a:ext uri="{FF2B5EF4-FFF2-40B4-BE49-F238E27FC236}">
                <a16:creationId xmlns:a16="http://schemas.microsoft.com/office/drawing/2014/main" id="{8E956A03-EB01-4B53-AEDC-2635C87C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434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94792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55EEF"/>
                </a:solidFill>
              </a:defRPr>
            </a:pPr>
            <a:r>
              <a:rPr sz="2400" b="1">
                <a:solidFill>
                  <a:srgbClr val="155EEF"/>
                </a:solidFill>
              </a:rPr>
              <a:t>→</a:t>
            </a:r>
          </a:p>
        </p:txBody>
      </p:sp>
      <p:sp>
        <p:nvSpPr>
          <p:cNvPr id="8" name="system-word">
            <a:extLst xmlns:a="http://schemas.openxmlformats.org/drawingml/2006/main">
              <a:ext uri="{FF2B5EF4-FFF2-40B4-BE49-F238E27FC236}">
                <a16:creationId xmlns:a16="http://schemas.microsoft.com/office/drawing/2014/main" id="{E7EA6388-E330-4386-A285-7C510A06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2440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5EEF"/>
                </a:solidFill>
              </a:defRPr>
            </a:pPr>
            <a:r>
              <a:rPr sz="1800" b="1">
                <a:solidFill>
                  <a:srgbClr val="155EEF"/>
                </a:solidFill>
              </a:rPr>
              <a:t>AGENTIC SYSTEM</a:t>
            </a:r>
          </a:p>
        </p:txBody>
      </p:sp>
      <p:sp>
        <p:nvSpPr>
          <p:cNvPr id="9" name="arrow-1b">
            <a:extLst xmlns:a="http://schemas.openxmlformats.org/drawingml/2006/main">
              <a:ext uri="{FF2B5EF4-FFF2-40B4-BE49-F238E27FC236}">
                <a16:creationId xmlns:a16="http://schemas.microsoft.com/office/drawing/2014/main" id="{58B0C1D0-A73E-4B15-BAB8-F60D23B3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434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94792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55EEF"/>
                </a:solidFill>
              </a:defRPr>
            </a:pPr>
            <a:r>
              <a:rPr sz="2400" b="1">
                <a:solidFill>
                  <a:srgbClr val="155EEF"/>
                </a:solidFill>
              </a:rPr>
              <a:t>→</a:t>
            </a:r>
          </a:p>
        </p:txBody>
      </p:sp>
      <p:sp>
        <p:nvSpPr>
          <p:cNvPr id="10" name="better-word">
            <a:extLst xmlns:a="http://schemas.openxmlformats.org/drawingml/2006/main">
              <a:ext uri="{FF2B5EF4-FFF2-40B4-BE49-F238E27FC236}">
                <a16:creationId xmlns:a16="http://schemas.microsoft.com/office/drawing/2014/main" id="{CB886F77-D79C-419B-B80B-2C929ED1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7244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39855"/>
                </a:solidFill>
              </a:defRPr>
            </a:pPr>
            <a:r>
              <a:rPr sz="1800" b="1">
                <a:solidFill>
                  <a:srgbClr val="039855"/>
                </a:solidFill>
              </a:rPr>
              <a:t>BETTER RESULTS</a:t>
            </a:r>
          </a:p>
        </p:txBody>
      </p:sp>
      <p:sp>
        <p:nvSpPr>
          <p:cNvPr id="11" name="closing-line-1">
            <a:extLst xmlns:a="http://schemas.openxmlformats.org/drawingml/2006/main">
              <a:ext uri="{FF2B5EF4-FFF2-40B4-BE49-F238E27FC236}">
                <a16:creationId xmlns:a16="http://schemas.microsoft.com/office/drawing/2014/main" id="{CEA50494-045B-40F4-9D8B-3D4D807F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723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638061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wordmark-2">
            <a:extLst xmlns:a="http://schemas.openxmlformats.org/drawingml/2006/main">
              <a:ext uri="{FF2B5EF4-FFF2-40B4-BE49-F238E27FC236}">
                <a16:creationId xmlns:a16="http://schemas.microsoft.com/office/drawing/2014/main" id="{051F3262-E04C-4B1A-96DA-6C06618B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5EEF"/>
                </a:solidFill>
              </a:defRPr>
            </a:pPr>
            <a:r>
              <a:rPr sz="1275" b="1">
                <a:solidFill>
                  <a:srgbClr val="155EEF"/>
                </a:solidFill>
              </a:rPr>
              <a:t>EVOX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B7592110-020B-42BF-B27B-7D78FF56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238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02 / 05</a:t>
            </a:r>
          </a:p>
        </p:txBody>
      </p:sp>
      <p:sp>
        <p:nvSpPr>
          <p:cNvPr id="3" name="top-line-2">
            <a:extLst xmlns:a="http://schemas.openxmlformats.org/drawingml/2006/main">
              <a:ext uri="{FF2B5EF4-FFF2-40B4-BE49-F238E27FC236}">
                <a16:creationId xmlns:a16="http://schemas.microsoft.com/office/drawing/2014/main" id="{E4C5CC04-1C59-4B60-8FE7-CC987AF5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ep-circle-1">
            <a:extLst xmlns:a="http://schemas.openxmlformats.org/drawingml/2006/main">
              <a:ext uri="{FF2B5EF4-FFF2-40B4-BE49-F238E27FC236}">
                <a16:creationId xmlns:a16="http://schemas.microsoft.com/office/drawing/2014/main" id="{768211B8-919A-4D16-BDD2-5DC3E210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3E0B091A-E91F-464C-B7BB-822FA31E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itle-2">
            <a:extLst xmlns:a="http://schemas.openxmlformats.org/drawingml/2006/main">
              <a:ext uri="{FF2B5EF4-FFF2-40B4-BE49-F238E27FC236}">
                <a16:creationId xmlns:a16="http://schemas.microsoft.com/office/drawing/2014/main" id="{BC535454-2EAF-431E-91CC-B7EC76ED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2870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</a:defRPr>
            </a:pPr>
            <a:r>
              <a:rPr sz="3000" b="1">
                <a:solidFill>
                  <a:srgbClr val="101828"/>
                </a:solidFill>
              </a:rPr>
              <a:t>Start with the problem—and define what success means.</a:t>
            </a:r>
          </a:p>
        </p:txBody>
      </p:sp>
      <p:sp>
        <p:nvSpPr>
          <p:cNvPr id="7" name="subtitle-2">
            <a:extLst xmlns:a="http://schemas.openxmlformats.org/drawingml/2006/main">
              <a:ext uri="{FF2B5EF4-FFF2-40B4-BE49-F238E27FC236}">
                <a16:creationId xmlns:a16="http://schemas.microsoft.com/office/drawing/2014/main" id="{22BEE16C-15F0-4377-BED4-94BF45E9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82880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Evox needs four things before it can build honestly.</a:t>
            </a:r>
          </a:p>
        </p:txBody>
      </p:sp>
      <p:sp>
        <p:nvSpPr>
          <p:cNvPr id="8" name="row-line-0">
            <a:extLst xmlns:a="http://schemas.openxmlformats.org/drawingml/2006/main">
              <a:ext uri="{FF2B5EF4-FFF2-40B4-BE49-F238E27FC236}">
                <a16:creationId xmlns:a16="http://schemas.microsoft.com/office/drawing/2014/main" id="{9775C30D-B89F-436D-B40E-801E03AA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194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ow-label-0">
            <a:extLst xmlns:a="http://schemas.openxmlformats.org/drawingml/2006/main">
              <a:ext uri="{FF2B5EF4-FFF2-40B4-BE49-F238E27FC236}">
                <a16:creationId xmlns:a16="http://schemas.microsoft.com/office/drawing/2014/main" id="{5E4D6F03-99F0-426F-AC53-1D61A2DD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670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5EEF"/>
                </a:solidFill>
              </a:defRPr>
            </a:pPr>
            <a:r>
              <a:rPr sz="1350" b="1">
                <a:solidFill>
                  <a:srgbClr val="155EEF"/>
                </a:solidFill>
              </a:rPr>
              <a:t>PROBLEM</a:t>
            </a:r>
          </a:p>
        </p:txBody>
      </p:sp>
      <p:sp>
        <p:nvSpPr>
          <p:cNvPr id="10" name="row-body-0">
            <a:extLst xmlns:a="http://schemas.openxmlformats.org/drawingml/2006/main">
              <a:ext uri="{FF2B5EF4-FFF2-40B4-BE49-F238E27FC236}">
                <a16:creationId xmlns:a16="http://schemas.microsoft.com/office/drawing/2014/main" id="{3ACDA7DE-00EF-4BC2-9923-7FC7D77B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67000"/>
            <a:ext cx="7505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What needs to be solved?</a:t>
            </a:r>
          </a:p>
        </p:txBody>
      </p:sp>
      <p:sp>
        <p:nvSpPr>
          <p:cNvPr id="11" name="row-line-1">
            <a:extLst xmlns:a="http://schemas.openxmlformats.org/drawingml/2006/main">
              <a:ext uri="{FF2B5EF4-FFF2-40B4-BE49-F238E27FC236}">
                <a16:creationId xmlns:a16="http://schemas.microsoft.com/office/drawing/2014/main" id="{5E30536A-371E-47B8-94FC-ABE6FC51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862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ow-label-1">
            <a:extLst xmlns:a="http://schemas.openxmlformats.org/drawingml/2006/main">
              <a:ext uri="{FF2B5EF4-FFF2-40B4-BE49-F238E27FC236}">
                <a16:creationId xmlns:a16="http://schemas.microsoft.com/office/drawing/2014/main" id="{340E2061-16E2-4ED8-BD25-A2C27D9F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337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39855"/>
                </a:solidFill>
              </a:defRPr>
            </a:pPr>
            <a:r>
              <a:rPr sz="1350" b="1">
                <a:solidFill>
                  <a:srgbClr val="039855"/>
                </a:solidFill>
              </a:rPr>
              <a:t>SUCCESS</a:t>
            </a:r>
          </a:p>
        </p:txBody>
      </p:sp>
      <p:sp>
        <p:nvSpPr>
          <p:cNvPr id="13" name="row-body-1">
            <a:extLst xmlns:a="http://schemas.openxmlformats.org/drawingml/2006/main">
              <a:ext uri="{FF2B5EF4-FFF2-40B4-BE49-F238E27FC236}">
                <a16:creationId xmlns:a16="http://schemas.microsoft.com/office/drawing/2014/main" id="{10282E63-2AD1-4AC0-8BCD-B8211BD6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33750"/>
            <a:ext cx="7505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What result counts as good?</a:t>
            </a:r>
          </a:p>
        </p:txBody>
      </p:sp>
      <p:sp>
        <p:nvSpPr>
          <p:cNvPr id="14" name="row-line-2">
            <a:extLst xmlns:a="http://schemas.openxmlformats.org/drawingml/2006/main">
              <a:ext uri="{FF2B5EF4-FFF2-40B4-BE49-F238E27FC236}">
                <a16:creationId xmlns:a16="http://schemas.microsoft.com/office/drawing/2014/main" id="{286F3D03-AF7F-460A-AB75-1F15E3B3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529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ow-label-2">
            <a:extLst xmlns:a="http://schemas.openxmlformats.org/drawingml/2006/main">
              <a:ext uri="{FF2B5EF4-FFF2-40B4-BE49-F238E27FC236}">
                <a16:creationId xmlns:a16="http://schemas.microsoft.com/office/drawing/2014/main" id="{B326F93C-3D04-4B16-9ECB-EDF66FEE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005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6803"/>
                </a:solidFill>
              </a:defRPr>
            </a:pPr>
            <a:r>
              <a:rPr sz="1350" b="1">
                <a:solidFill>
                  <a:srgbClr val="DC6803"/>
                </a:solidFill>
              </a:rPr>
              <a:t>EVIDENCE</a:t>
            </a:r>
          </a:p>
        </p:txBody>
      </p:sp>
      <p:sp>
        <p:nvSpPr>
          <p:cNvPr id="16" name="row-body-2">
            <a:extLst xmlns:a="http://schemas.openxmlformats.org/drawingml/2006/main">
              <a:ext uri="{FF2B5EF4-FFF2-40B4-BE49-F238E27FC236}">
                <a16:creationId xmlns:a16="http://schemas.microsoft.com/office/drawing/2014/main" id="{1129AFFB-E613-488F-A5D3-6E8619D7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00500"/>
            <a:ext cx="7505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What data can prove the result?</a:t>
            </a:r>
          </a:p>
        </p:txBody>
      </p:sp>
      <p:sp>
        <p:nvSpPr>
          <p:cNvPr id="17" name="row-line-3">
            <a:extLst xmlns:a="http://schemas.openxmlformats.org/drawingml/2006/main">
              <a:ext uri="{FF2B5EF4-FFF2-40B4-BE49-F238E27FC236}">
                <a16:creationId xmlns:a16="http://schemas.microsoft.com/office/drawing/2014/main" id="{D08B76E3-B360-43D4-8B52-FF0C8CCA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19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ow-label-3">
            <a:extLst xmlns:a="http://schemas.openxmlformats.org/drawingml/2006/main">
              <a:ext uri="{FF2B5EF4-FFF2-40B4-BE49-F238E27FC236}">
                <a16:creationId xmlns:a16="http://schemas.microsoft.com/office/drawing/2014/main" id="{0E9DCB22-3B74-403D-899F-8EC134A1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672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BOUNDARIES</a:t>
            </a:r>
          </a:p>
        </p:txBody>
      </p:sp>
      <p:sp>
        <p:nvSpPr>
          <p:cNvPr id="19" name="row-body-3">
            <a:extLst xmlns:a="http://schemas.openxmlformats.org/drawingml/2006/main">
              <a:ext uri="{FF2B5EF4-FFF2-40B4-BE49-F238E27FC236}">
                <a16:creationId xmlns:a16="http://schemas.microsoft.com/office/drawing/2014/main" id="{47519FD4-AB51-4496-8D15-D15F3BD7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667250"/>
            <a:ext cx="7505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What may the system do—and when must it ask a human?</a:t>
            </a:r>
          </a:p>
        </p:txBody>
      </p:sp>
      <p:sp>
        <p:nvSpPr>
          <p:cNvPr id="20" name="bottom-2">
            <a:extLst xmlns:a="http://schemas.openxmlformats.org/drawingml/2006/main">
              <a:ext uri="{FF2B5EF4-FFF2-40B4-BE49-F238E27FC236}">
                <a16:creationId xmlns:a16="http://schemas.microsoft.com/office/drawing/2014/main" id="{959FEB6C-BA15-4F69-9F14-DEDEC5EB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293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5EEF"/>
                </a:solidFill>
              </a:defRPr>
            </a:pPr>
            <a:r>
              <a:rPr sz="1650" b="1">
                <a:solidFill>
                  <a:srgbClr val="155EEF"/>
                </a:solidFill>
              </a:rPr>
              <a:t>If success cannot be measured, the system cannot improve honestly.</a:t>
            </a:r>
          </a:p>
        </p:txBody>
      </p:sp>
    </p:spTree>
    <p:extLst>
      <p:ext uri="{BB962C8B-B14F-4D97-AF65-F5344CB8AC3E}">
        <p14:creationId xmlns:p14="http://schemas.microsoft.com/office/powerpoint/2010/main" val="1472362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wordmark-3">
            <a:extLst xmlns:a="http://schemas.openxmlformats.org/drawingml/2006/main">
              <a:ext uri="{FF2B5EF4-FFF2-40B4-BE49-F238E27FC236}">
                <a16:creationId xmlns:a16="http://schemas.microsoft.com/office/drawing/2014/main" id="{85F3FCF7-8145-483E-82BA-09C844C3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5EEF"/>
                </a:solidFill>
              </a:defRPr>
            </a:pPr>
            <a:r>
              <a:rPr sz="1275" b="1">
                <a:solidFill>
                  <a:srgbClr val="155EEF"/>
                </a:solidFill>
              </a:rPr>
              <a:t>EVOX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8C5EA181-25CD-4EFF-8464-972544F7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238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03 / 05</a:t>
            </a:r>
          </a:p>
        </p:txBody>
      </p:sp>
      <p:sp>
        <p:nvSpPr>
          <p:cNvPr id="3" name="top-line-3">
            <a:extLst xmlns:a="http://schemas.openxmlformats.org/drawingml/2006/main">
              <a:ext uri="{FF2B5EF4-FFF2-40B4-BE49-F238E27FC236}">
                <a16:creationId xmlns:a16="http://schemas.microsoft.com/office/drawing/2014/main" id="{F71AFFFC-909F-4D52-9FE7-48C362C9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ep-circle-2">
            <a:extLst xmlns:a="http://schemas.openxmlformats.org/drawingml/2006/main">
              <a:ext uri="{FF2B5EF4-FFF2-40B4-BE49-F238E27FC236}">
                <a16:creationId xmlns:a16="http://schemas.microsoft.com/office/drawing/2014/main" id="{0D926268-19E1-45A6-83DA-62B1B645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40103CC4-A926-44E1-B0F6-100BE957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title-3">
            <a:extLst xmlns:a="http://schemas.openxmlformats.org/drawingml/2006/main">
              <a:ext uri="{FF2B5EF4-FFF2-40B4-BE49-F238E27FC236}">
                <a16:creationId xmlns:a16="http://schemas.microsoft.com/office/drawing/2014/main" id="{AFEBFA16-ED8C-4F85-91D9-91DAF930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28700"/>
            <a:ext cx="933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Evox turns that mission into an agentic system.</a:t>
            </a:r>
          </a:p>
        </p:txBody>
      </p:sp>
      <p:sp>
        <p:nvSpPr>
          <p:cNvPr id="7" name="subtitle-3">
            <a:extLst xmlns:a="http://schemas.openxmlformats.org/drawingml/2006/main">
              <a:ext uri="{FF2B5EF4-FFF2-40B4-BE49-F238E27FC236}">
                <a16:creationId xmlns:a16="http://schemas.microsoft.com/office/drawing/2014/main" id="{CC92E4EE-93AF-4CBF-835D-F81BCC1D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8288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The system is designed around the job—not around a fixed business template.</a:t>
            </a:r>
          </a:p>
        </p:txBody>
      </p:sp>
      <p:sp>
        <p:nvSpPr>
          <p:cNvPr id="8" name="understand-box">
            <a:extLst xmlns:a="http://schemas.openxmlformats.org/drawingml/2006/main">
              <a:ext uri="{FF2B5EF4-FFF2-40B4-BE49-F238E27FC236}">
                <a16:creationId xmlns:a16="http://schemas.microsoft.com/office/drawing/2014/main" id="{E87853D7-1549-4647-89AC-A395EC4B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9812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understand-accent">
            <a:extLst xmlns:a="http://schemas.openxmlformats.org/drawingml/2006/main">
              <a:ext uri="{FF2B5EF4-FFF2-40B4-BE49-F238E27FC236}">
                <a16:creationId xmlns:a16="http://schemas.microsoft.com/office/drawing/2014/main" id="{B842628D-94C6-43C4-9FA9-BE65755B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666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understand-label">
            <a:extLst xmlns:a="http://schemas.openxmlformats.org/drawingml/2006/main">
              <a:ext uri="{FF2B5EF4-FFF2-40B4-BE49-F238E27FC236}">
                <a16:creationId xmlns:a16="http://schemas.microsoft.com/office/drawing/2014/main" id="{0F844345-30AF-4618-967B-5B7B806E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UNDERSTAND</a:t>
            </a:r>
          </a:p>
        </p:txBody>
      </p:sp>
      <p:sp>
        <p:nvSpPr>
          <p:cNvPr id="11" name="understand-detail">
            <a:extLst xmlns:a="http://schemas.openxmlformats.org/drawingml/2006/main">
              <a:ext uri="{FF2B5EF4-FFF2-40B4-BE49-F238E27FC236}">
                <a16:creationId xmlns:a16="http://schemas.microsoft.com/office/drawing/2014/main" id="{03475D1A-54D2-47D4-ACC3-750F741E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Read the problem and available evidence.</a:t>
            </a:r>
          </a:p>
        </p:txBody>
      </p:sp>
      <p:sp>
        <p:nvSpPr>
          <p:cNvPr id="12" name="arrow-3a">
            <a:extLst xmlns:a="http://schemas.openxmlformats.org/drawingml/2006/main">
              <a:ext uri="{FF2B5EF4-FFF2-40B4-BE49-F238E27FC236}">
                <a16:creationId xmlns:a16="http://schemas.microsoft.com/office/drawing/2014/main" id="{3FB02938-CC00-4627-8516-82F23B81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242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92323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55EEF"/>
                </a:solidFill>
              </a:defRPr>
            </a:pPr>
            <a:r>
              <a:rPr sz="2400" b="1">
                <a:solidFill>
                  <a:srgbClr val="155EEF"/>
                </a:solidFill>
              </a:rPr>
              <a:t>→</a:t>
            </a:r>
          </a:p>
        </p:txBody>
      </p:sp>
      <p:sp>
        <p:nvSpPr>
          <p:cNvPr id="13" name="plan-box">
            <a:extLst xmlns:a="http://schemas.openxmlformats.org/drawingml/2006/main">
              <a:ext uri="{FF2B5EF4-FFF2-40B4-BE49-F238E27FC236}">
                <a16:creationId xmlns:a16="http://schemas.microsoft.com/office/drawing/2014/main" id="{F7E4B9A9-846E-40B0-97EC-AF4686BE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67050"/>
            <a:ext cx="19812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plan-accent">
            <a:extLst xmlns:a="http://schemas.openxmlformats.org/drawingml/2006/main">
              <a:ext uri="{FF2B5EF4-FFF2-40B4-BE49-F238E27FC236}">
                <a16:creationId xmlns:a16="http://schemas.microsoft.com/office/drawing/2014/main" id="{28DEE2B1-CADC-4149-924E-FA57A673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67050"/>
            <a:ext cx="666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lan-label">
            <a:extLst xmlns:a="http://schemas.openxmlformats.org/drawingml/2006/main">
              <a:ext uri="{FF2B5EF4-FFF2-40B4-BE49-F238E27FC236}">
                <a16:creationId xmlns:a16="http://schemas.microsoft.com/office/drawing/2014/main" id="{FC9E4C2B-9124-495A-8AB6-84FC4332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76600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PLAN</a:t>
            </a:r>
          </a:p>
        </p:txBody>
      </p:sp>
      <p:sp>
        <p:nvSpPr>
          <p:cNvPr id="16" name="plan-detail">
            <a:extLst xmlns:a="http://schemas.openxmlformats.org/drawingml/2006/main">
              <a:ext uri="{FF2B5EF4-FFF2-40B4-BE49-F238E27FC236}">
                <a16:creationId xmlns:a16="http://schemas.microsoft.com/office/drawing/2014/main" id="{CF9E2E6C-EBA2-4DD9-8469-5082A3B4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3380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Break the mission into agent steps.</a:t>
            </a:r>
          </a:p>
        </p:txBody>
      </p:sp>
      <p:sp>
        <p:nvSpPr>
          <p:cNvPr id="17" name="arrow-3b">
            <a:extLst xmlns:a="http://schemas.openxmlformats.org/drawingml/2006/main">
              <a:ext uri="{FF2B5EF4-FFF2-40B4-BE49-F238E27FC236}">
                <a16:creationId xmlns:a16="http://schemas.microsoft.com/office/drawing/2014/main" id="{B7085443-9040-4A83-8C61-BA4ABFF0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5242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92323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55EEF"/>
                </a:solidFill>
              </a:defRPr>
            </a:pPr>
            <a:r>
              <a:rPr sz="2400" b="1">
                <a:solidFill>
                  <a:srgbClr val="155EEF"/>
                </a:solidFill>
              </a:rPr>
              <a:t>→</a:t>
            </a:r>
          </a:p>
        </p:txBody>
      </p:sp>
      <p:sp>
        <p:nvSpPr>
          <p:cNvPr id="18" name="act-box">
            <a:extLst xmlns:a="http://schemas.openxmlformats.org/drawingml/2006/main">
              <a:ext uri="{FF2B5EF4-FFF2-40B4-BE49-F238E27FC236}">
                <a16:creationId xmlns:a16="http://schemas.microsoft.com/office/drawing/2014/main" id="{866796E3-13B3-430B-87D8-622382C9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67050"/>
            <a:ext cx="19812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act-accent">
            <a:extLst xmlns:a="http://schemas.openxmlformats.org/drawingml/2006/main">
              <a:ext uri="{FF2B5EF4-FFF2-40B4-BE49-F238E27FC236}">
                <a16:creationId xmlns:a16="http://schemas.microsoft.com/office/drawing/2014/main" id="{01B1757D-B985-4044-93DE-56A617C2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67050"/>
            <a:ext cx="666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98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ct-label">
            <a:extLst xmlns:a="http://schemas.openxmlformats.org/drawingml/2006/main">
              <a:ext uri="{FF2B5EF4-FFF2-40B4-BE49-F238E27FC236}">
                <a16:creationId xmlns:a16="http://schemas.microsoft.com/office/drawing/2014/main" id="{5FB90B5C-F1C4-43F1-9F50-E7237EBE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76600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ACT</a:t>
            </a:r>
          </a:p>
        </p:txBody>
      </p:sp>
      <p:sp>
        <p:nvSpPr>
          <p:cNvPr id="21" name="act-detail">
            <a:extLst xmlns:a="http://schemas.openxmlformats.org/drawingml/2006/main">
              <a:ext uri="{FF2B5EF4-FFF2-40B4-BE49-F238E27FC236}">
                <a16:creationId xmlns:a16="http://schemas.microsoft.com/office/drawing/2014/main" id="{70BCF82D-4122-4C1A-A19F-B90E394C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3380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25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Use the permitted models, tools, and data.</a:t>
            </a:r>
          </a:p>
        </p:txBody>
      </p:sp>
      <p:sp>
        <p:nvSpPr>
          <p:cNvPr id="22" name="arrow-3c">
            <a:extLst xmlns:a="http://schemas.openxmlformats.org/drawingml/2006/main">
              <a:ext uri="{FF2B5EF4-FFF2-40B4-BE49-F238E27FC236}">
                <a16:creationId xmlns:a16="http://schemas.microsoft.com/office/drawing/2014/main" id="{7B6BE184-9E19-4A1D-8698-0FB19001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242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92323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55EEF"/>
                </a:solidFill>
              </a:defRPr>
            </a:pPr>
            <a:r>
              <a:rPr sz="2400" b="1">
                <a:solidFill>
                  <a:srgbClr val="155EEF"/>
                </a:solidFill>
              </a:rPr>
              <a:t>→</a:t>
            </a:r>
          </a:p>
        </p:txBody>
      </p:sp>
      <p:sp>
        <p:nvSpPr>
          <p:cNvPr id="23" name="check-box">
            <a:extLst xmlns:a="http://schemas.openxmlformats.org/drawingml/2006/main">
              <a:ext uri="{FF2B5EF4-FFF2-40B4-BE49-F238E27FC236}">
                <a16:creationId xmlns:a16="http://schemas.microsoft.com/office/drawing/2014/main" id="{2EC62360-51B8-4F56-9C3F-63D7B39C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67050"/>
            <a:ext cx="24765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9F0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4" name="check-accent">
            <a:extLst xmlns:a="http://schemas.openxmlformats.org/drawingml/2006/main">
              <a:ext uri="{FF2B5EF4-FFF2-40B4-BE49-F238E27FC236}">
                <a16:creationId xmlns:a16="http://schemas.microsoft.com/office/drawing/2014/main" id="{94FBDC18-9725-4FBF-887E-A2E2DD97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67050"/>
            <a:ext cx="666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98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heck-label">
            <a:extLst xmlns:a="http://schemas.openxmlformats.org/drawingml/2006/main">
              <a:ext uri="{FF2B5EF4-FFF2-40B4-BE49-F238E27FC236}">
                <a16:creationId xmlns:a16="http://schemas.microsoft.com/office/drawing/2014/main" id="{1CF1DBCF-C6E9-4E4D-BFBE-69D8ADD3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766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CHECK</a:t>
            </a:r>
          </a:p>
        </p:txBody>
      </p:sp>
      <p:sp>
        <p:nvSpPr>
          <p:cNvPr id="26" name="check-detail">
            <a:extLst xmlns:a="http://schemas.openxmlformats.org/drawingml/2006/main">
              <a:ext uri="{FF2B5EF4-FFF2-40B4-BE49-F238E27FC236}">
                <a16:creationId xmlns:a16="http://schemas.microsoft.com/office/drawing/2014/main" id="{B09D971A-F096-486D-8219-9B246A3C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33800"/>
            <a:ext cx="2076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Verify the result or escalate to a human.</a:t>
            </a:r>
          </a:p>
        </p:txBody>
      </p:sp>
      <p:sp>
        <p:nvSpPr>
          <p:cNvPr id="27" name="bottom-3">
            <a:extLst xmlns:a="http://schemas.openxmlformats.org/drawingml/2006/main">
              <a:ext uri="{FF2B5EF4-FFF2-40B4-BE49-F238E27FC236}">
                <a16:creationId xmlns:a16="http://schemas.microsoft.com/office/drawing/2014/main" id="{AEE146AF-2AFE-46F9-9895-0739ED5E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134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The result is a versioned workflow that can be tested, compared, and improved.</a:t>
            </a:r>
          </a:p>
        </p:txBody>
      </p:sp>
    </p:spTree>
    <p:extLst>
      <p:ext uri="{BB962C8B-B14F-4D97-AF65-F5344CB8AC3E}">
        <p14:creationId xmlns:p14="http://schemas.microsoft.com/office/powerpoint/2010/main" val="20452972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wordmark-4">
            <a:extLst xmlns:a="http://schemas.openxmlformats.org/drawingml/2006/main">
              <a:ext uri="{FF2B5EF4-FFF2-40B4-BE49-F238E27FC236}">
                <a16:creationId xmlns:a16="http://schemas.microsoft.com/office/drawing/2014/main" id="{ABAD7CB2-6BB9-40E3-A7FD-04178A32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5EEF"/>
                </a:solidFill>
              </a:defRPr>
            </a:pPr>
            <a:r>
              <a:rPr sz="1275" b="1">
                <a:solidFill>
                  <a:srgbClr val="155EEF"/>
                </a:solidFill>
              </a:rPr>
              <a:t>EVOX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FA4AC7E9-77D0-4745-94AE-0AE78201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238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04 / 05</a:t>
            </a:r>
          </a:p>
        </p:txBody>
      </p:sp>
      <p:sp>
        <p:nvSpPr>
          <p:cNvPr id="3" name="top-line-4">
            <a:extLst xmlns:a="http://schemas.openxmlformats.org/drawingml/2006/main">
              <a:ext uri="{FF2B5EF4-FFF2-40B4-BE49-F238E27FC236}">
                <a16:creationId xmlns:a16="http://schemas.microsoft.com/office/drawing/2014/main" id="{1E57C722-1C32-4B0E-9E28-B753A5BC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ep-circle-3">
            <a:extLst xmlns:a="http://schemas.openxmlformats.org/drawingml/2006/main">
              <a:ext uri="{FF2B5EF4-FFF2-40B4-BE49-F238E27FC236}">
                <a16:creationId xmlns:a16="http://schemas.microsoft.com/office/drawing/2014/main" id="{18A5720F-9533-4397-B106-40032CE4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98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2CE83AAC-E091-426B-9D56-A14A92C4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985DA6CD-2ECF-4185-A224-BDAA7B91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28700"/>
            <a:ext cx="962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</a:defRPr>
            </a:pPr>
            <a:r>
              <a:rPr sz="3000" b="1">
                <a:solidFill>
                  <a:srgbClr val="101828"/>
                </a:solidFill>
              </a:rPr>
              <a:t>Every result is judged against the same success criteria.</a:t>
            </a:r>
          </a:p>
        </p:txBody>
      </p:sp>
      <p:sp>
        <p:nvSpPr>
          <p:cNvPr id="7" name="subtitle-4">
            <a:extLst xmlns:a="http://schemas.openxmlformats.org/drawingml/2006/main">
              <a:ext uri="{FF2B5EF4-FFF2-40B4-BE49-F238E27FC236}">
                <a16:creationId xmlns:a16="http://schemas.microsoft.com/office/drawing/2014/main" id="{FD864171-AD48-4F73-8E34-8E826522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8288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That fixed definition of success becomes the learning signal.</a:t>
            </a:r>
          </a:p>
        </p:txBody>
      </p:sp>
      <p:sp>
        <p:nvSpPr>
          <p:cNvPr id="8" name="criteria-box">
            <a:extLst xmlns:a="http://schemas.openxmlformats.org/drawingml/2006/main">
              <a:ext uri="{FF2B5EF4-FFF2-40B4-BE49-F238E27FC236}">
                <a16:creationId xmlns:a16="http://schemas.microsoft.com/office/drawing/2014/main" id="{F4523B9E-EB6E-41E0-A9E4-28DA818C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7241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9" name="criteria-label">
            <a:extLst xmlns:a="http://schemas.openxmlformats.org/drawingml/2006/main">
              <a:ext uri="{FF2B5EF4-FFF2-40B4-BE49-F238E27FC236}">
                <a16:creationId xmlns:a16="http://schemas.microsoft.com/office/drawing/2014/main" id="{9BF53848-0F29-414B-888B-5AEC8BAC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2228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SUCCESS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CRITERIA</a:t>
            </a:r>
          </a:p>
        </p:txBody>
      </p:sp>
      <p:sp>
        <p:nvSpPr>
          <p:cNvPr id="10" name="criteria-detail">
            <a:extLst xmlns:a="http://schemas.openxmlformats.org/drawingml/2006/main">
              <a:ext uri="{FF2B5EF4-FFF2-40B4-BE49-F238E27FC236}">
                <a16:creationId xmlns:a16="http://schemas.microsoft.com/office/drawing/2014/main" id="{B579B1E2-BDC0-4ADF-941C-B2577213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43350"/>
            <a:ext cx="2228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0D5DD"/>
                </a:solidFill>
              </a:defRPr>
            </a:pPr>
            <a:r>
              <a:rPr sz="1275" b="0">
                <a:solidFill>
                  <a:srgbClr val="D0D5DD"/>
                </a:solidFill>
              </a:rPr>
              <a:t>The target stays fixed while candidates change.</a:t>
            </a:r>
          </a:p>
        </p:txBody>
      </p:sp>
      <p:sp>
        <p:nvSpPr>
          <p:cNvPr id="11" name="arrow-4a">
            <a:extLst xmlns:a="http://schemas.openxmlformats.org/drawingml/2006/main">
              <a:ext uri="{FF2B5EF4-FFF2-40B4-BE49-F238E27FC236}">
                <a16:creationId xmlns:a16="http://schemas.microsoft.com/office/drawing/2014/main" id="{93A3B93A-76C4-436A-A7EF-451A6F7E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76625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94792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1828"/>
                </a:solidFill>
              </a:defRPr>
            </a:pPr>
            <a:r>
              <a:rPr sz="2400" b="1">
                <a:solidFill>
                  <a:srgbClr val="101828"/>
                </a:solidFill>
              </a:rPr>
              <a:t>→</a:t>
            </a:r>
          </a:p>
        </p:txBody>
      </p:sp>
      <p:sp>
        <p:nvSpPr>
          <p:cNvPr id="12" name="success-box">
            <a:extLst xmlns:a="http://schemas.openxmlformats.org/drawingml/2006/main">
              <a:ext uri="{FF2B5EF4-FFF2-40B4-BE49-F238E27FC236}">
                <a16:creationId xmlns:a16="http://schemas.microsoft.com/office/drawing/2014/main" id="{54F7A7CE-D4D3-418D-A0D4-393FEB50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81300"/>
            <a:ext cx="19812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9F0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success-accent">
            <a:extLst xmlns:a="http://schemas.openxmlformats.org/drawingml/2006/main">
              <a:ext uri="{FF2B5EF4-FFF2-40B4-BE49-F238E27FC236}">
                <a16:creationId xmlns:a16="http://schemas.microsoft.com/office/drawing/2014/main" id="{2FE0A4F8-A27C-403C-B0FB-A7A4832F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81300"/>
            <a:ext cx="666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98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uccess-label">
            <a:extLst xmlns:a="http://schemas.openxmlformats.org/drawingml/2006/main">
              <a:ext uri="{FF2B5EF4-FFF2-40B4-BE49-F238E27FC236}">
                <a16:creationId xmlns:a16="http://schemas.microsoft.com/office/drawing/2014/main" id="{8C3383E5-A3BC-4A3F-83EA-45BF9E1A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90850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SUCCESS</a:t>
            </a:r>
          </a:p>
        </p:txBody>
      </p:sp>
      <p:sp>
        <p:nvSpPr>
          <p:cNvPr id="15" name="success-detail">
            <a:extLst xmlns:a="http://schemas.openxmlformats.org/drawingml/2006/main">
              <a:ext uri="{FF2B5EF4-FFF2-40B4-BE49-F238E27FC236}">
                <a16:creationId xmlns:a16="http://schemas.microsoft.com/office/drawing/2014/main" id="{34D23F39-7A17-4BEC-9B57-7A127B81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4805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Reinforce the steps that worked.</a:t>
            </a:r>
          </a:p>
        </p:txBody>
      </p:sp>
      <p:sp>
        <p:nvSpPr>
          <p:cNvPr id="16" name="failure-box">
            <a:extLst xmlns:a="http://schemas.openxmlformats.org/drawingml/2006/main">
              <a:ext uri="{FF2B5EF4-FFF2-40B4-BE49-F238E27FC236}">
                <a16:creationId xmlns:a16="http://schemas.microsoft.com/office/drawing/2014/main" id="{692E9EA2-51A1-4CB3-9CDB-5785B4BE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19812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failure-accent">
            <a:extLst xmlns:a="http://schemas.openxmlformats.org/drawingml/2006/main">
              <a:ext uri="{FF2B5EF4-FFF2-40B4-BE49-F238E27FC236}">
                <a16:creationId xmlns:a16="http://schemas.microsoft.com/office/drawing/2014/main" id="{7D3533DD-CA4B-425E-9E37-CAD0853A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666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68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BE1537DD-A1B6-4BB1-97CC-75FA5861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90850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FAILURE</a:t>
            </a:r>
          </a:p>
        </p:txBody>
      </p:sp>
      <p:sp>
        <p:nvSpPr>
          <p:cNvPr id="19" name="failure-detail">
            <a:extLst xmlns:a="http://schemas.openxmlformats.org/drawingml/2006/main">
              <a:ext uri="{FF2B5EF4-FFF2-40B4-BE49-F238E27FC236}">
                <a16:creationId xmlns:a16="http://schemas.microsoft.com/office/drawing/2014/main" id="{40789A7C-11D7-4455-B96F-3DE0C595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4805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17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Find the weak step and create a better candidate.</a:t>
            </a:r>
          </a:p>
        </p:txBody>
      </p:sp>
      <p:sp>
        <p:nvSpPr>
          <p:cNvPr id="20" name="human-box">
            <a:extLst xmlns:a="http://schemas.openxmlformats.org/drawingml/2006/main">
              <a:ext uri="{FF2B5EF4-FFF2-40B4-BE49-F238E27FC236}">
                <a16:creationId xmlns:a16="http://schemas.microsoft.com/office/drawing/2014/main" id="{E6D4FB79-26AF-4218-A553-11B39557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20574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human-accent">
            <a:extLst xmlns:a="http://schemas.openxmlformats.org/drawingml/2006/main">
              <a:ext uri="{FF2B5EF4-FFF2-40B4-BE49-F238E27FC236}">
                <a16:creationId xmlns:a16="http://schemas.microsoft.com/office/drawing/2014/main" id="{D045A2DC-754F-49A9-BDEE-A00B7639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666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human-label">
            <a:extLst xmlns:a="http://schemas.openxmlformats.org/drawingml/2006/main">
              <a:ext uri="{FF2B5EF4-FFF2-40B4-BE49-F238E27FC236}">
                <a16:creationId xmlns:a16="http://schemas.microsoft.com/office/drawing/2014/main" id="{9E8CB48F-F7B3-4609-894F-E30EE395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90850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UNCERTAIN</a:t>
            </a:r>
          </a:p>
        </p:txBody>
      </p:sp>
      <p:sp>
        <p:nvSpPr>
          <p:cNvPr id="23" name="human-detail">
            <a:extLst xmlns:a="http://schemas.openxmlformats.org/drawingml/2006/main">
              <a:ext uri="{FF2B5EF4-FFF2-40B4-BE49-F238E27FC236}">
                <a16:creationId xmlns:a16="http://schemas.microsoft.com/office/drawing/2014/main" id="{E6246494-3571-468C-9C4D-1A6E30E0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4805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Ask a human instead of guessing.</a:t>
            </a:r>
          </a:p>
        </p:txBody>
      </p:sp>
      <p:sp>
        <p:nvSpPr>
          <p:cNvPr id="24" name="bottom-4">
            <a:extLst xmlns:a="http://schemas.openxmlformats.org/drawingml/2006/main">
              <a:ext uri="{FF2B5EF4-FFF2-40B4-BE49-F238E27FC236}">
                <a16:creationId xmlns:a16="http://schemas.microsoft.com/office/drawing/2014/main" id="{958B11CA-1D91-4FD3-AA41-77D0F49E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134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55EEF"/>
                </a:solidFill>
              </a:defRPr>
            </a:pPr>
            <a:r>
              <a:rPr sz="2025" b="1">
                <a:solidFill>
                  <a:srgbClr val="155EEF"/>
                </a:solidFill>
              </a:rPr>
              <a:t>Successes and failures become evidence for the next version.</a:t>
            </a:r>
          </a:p>
        </p:txBody>
      </p:sp>
    </p:spTree>
    <p:extLst>
      <p:ext uri="{BB962C8B-B14F-4D97-AF65-F5344CB8AC3E}">
        <p14:creationId xmlns:p14="http://schemas.microsoft.com/office/powerpoint/2010/main" val="3509203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wordmark-5">
            <a:extLst xmlns:a="http://schemas.openxmlformats.org/drawingml/2006/main">
              <a:ext uri="{FF2B5EF4-FFF2-40B4-BE49-F238E27FC236}">
                <a16:creationId xmlns:a16="http://schemas.microsoft.com/office/drawing/2014/main" id="{F97C0E31-06C8-40F0-B182-7A14F123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5EEF"/>
                </a:solidFill>
              </a:defRPr>
            </a:pPr>
            <a:r>
              <a:rPr sz="1275" b="1">
                <a:solidFill>
                  <a:srgbClr val="155EEF"/>
                </a:solidFill>
              </a:rPr>
              <a:t>EVOX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438A3F45-2BB8-4534-A990-BA322CAE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238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05 / 05</a:t>
            </a:r>
          </a:p>
        </p:txBody>
      </p:sp>
      <p:sp>
        <p:nvSpPr>
          <p:cNvPr id="3" name="top-line-5">
            <a:extLst xmlns:a="http://schemas.openxmlformats.org/drawingml/2006/main">
              <a:ext uri="{FF2B5EF4-FFF2-40B4-BE49-F238E27FC236}">
                <a16:creationId xmlns:a16="http://schemas.microsoft.com/office/drawing/2014/main" id="{1F3A60B9-04CA-4D31-A01C-5D389A63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ep-circle-4">
            <a:extLst xmlns:a="http://schemas.openxmlformats.org/drawingml/2006/main">
              <a:ext uri="{FF2B5EF4-FFF2-40B4-BE49-F238E27FC236}">
                <a16:creationId xmlns:a16="http://schemas.microsoft.com/office/drawing/2014/main" id="{4509D76A-59A9-432A-AE48-82D5B190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-number-4">
            <a:extLst xmlns:a="http://schemas.openxmlformats.org/drawingml/2006/main">
              <a:ext uri="{FF2B5EF4-FFF2-40B4-BE49-F238E27FC236}">
                <a16:creationId xmlns:a16="http://schemas.microsoft.com/office/drawing/2014/main" id="{8F9D4401-593C-46DC-9C68-8F73AB87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" name="title-5">
            <a:extLst xmlns:a="http://schemas.openxmlformats.org/drawingml/2006/main">
              <a:ext uri="{FF2B5EF4-FFF2-40B4-BE49-F238E27FC236}">
                <a16:creationId xmlns:a16="http://schemas.microsoft.com/office/drawing/2014/main" id="{E3E747F0-F800-42E9-8ED9-C0CF8BEE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28700"/>
            <a:ext cx="885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828"/>
                </a:solidFill>
              </a:defRPr>
            </a:pPr>
            <a:r>
              <a:rPr sz="3300" b="1">
                <a:solidFill>
                  <a:srgbClr val="101828"/>
                </a:solidFill>
              </a:rPr>
              <a:t>The next version must prove it is better.</a:t>
            </a:r>
          </a:p>
        </p:txBody>
      </p:sp>
      <p:sp>
        <p:nvSpPr>
          <p:cNvPr id="7" name="subtitle-5">
            <a:extLst xmlns:a="http://schemas.openxmlformats.org/drawingml/2006/main">
              <a:ext uri="{FF2B5EF4-FFF2-40B4-BE49-F238E27FC236}">
                <a16:creationId xmlns:a16="http://schemas.microsoft.com/office/drawing/2014/main" id="{EC09EDA9-6CB7-4FE8-B805-42BDB4C7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8288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Evox improves the workflow without letting the workflow rewrite the rules.</a:t>
            </a:r>
          </a:p>
        </p:txBody>
      </p:sp>
      <p:sp>
        <p:nvSpPr>
          <p:cNvPr id="8" name="run-box">
            <a:extLst xmlns:a="http://schemas.openxmlformats.org/drawingml/2006/main">
              <a:ext uri="{FF2B5EF4-FFF2-40B4-BE49-F238E27FC236}">
                <a16:creationId xmlns:a16="http://schemas.microsoft.com/office/drawing/2014/main" id="{90516517-E9FA-4646-9921-C30F5C5B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0193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run-accent">
            <a:extLst xmlns:a="http://schemas.openxmlformats.org/drawingml/2006/main">
              <a:ext uri="{FF2B5EF4-FFF2-40B4-BE49-F238E27FC236}">
                <a16:creationId xmlns:a16="http://schemas.microsoft.com/office/drawing/2014/main" id="{889B6A67-4424-4570-BBFE-C700DA3A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66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un-label">
            <a:extLst xmlns:a="http://schemas.openxmlformats.org/drawingml/2006/main">
              <a:ext uri="{FF2B5EF4-FFF2-40B4-BE49-F238E27FC236}">
                <a16:creationId xmlns:a16="http://schemas.microsoft.com/office/drawing/2014/main" id="{FA74D92F-AA2D-473A-9093-ECD303EF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RUN</a:t>
            </a:r>
          </a:p>
        </p:txBody>
      </p:sp>
      <p:sp>
        <p:nvSpPr>
          <p:cNvPr id="11" name="run-detail">
            <a:extLst xmlns:a="http://schemas.openxmlformats.org/drawingml/2006/main">
              <a:ext uri="{FF2B5EF4-FFF2-40B4-BE49-F238E27FC236}">
                <a16:creationId xmlns:a16="http://schemas.microsoft.com/office/drawing/2014/main" id="{D683A272-B49E-4F4D-B3D8-BEB68995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Use the current approved system.</a:t>
            </a:r>
          </a:p>
        </p:txBody>
      </p:sp>
      <p:sp>
        <p:nvSpPr>
          <p:cNvPr id="12" name="arrow-5a">
            <a:extLst xmlns:a="http://schemas.openxmlformats.org/drawingml/2006/main">
              <a:ext uri="{FF2B5EF4-FFF2-40B4-BE49-F238E27FC236}">
                <a16:creationId xmlns:a16="http://schemas.microsoft.com/office/drawing/2014/main" id="{C9AC0CB0-F8A3-4216-9485-051E7467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09950"/>
            <a:ext cx="419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8542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55EEF"/>
                </a:solidFill>
              </a:defRPr>
            </a:pPr>
            <a:r>
              <a:rPr sz="2400" b="1">
                <a:solidFill>
                  <a:srgbClr val="155EEF"/>
                </a:solidFill>
              </a:rPr>
              <a:t>→</a:t>
            </a:r>
          </a:p>
        </p:txBody>
      </p:sp>
      <p:sp>
        <p:nvSpPr>
          <p:cNvPr id="13" name="learn-box">
            <a:extLst xmlns:a="http://schemas.openxmlformats.org/drawingml/2006/main">
              <a:ext uri="{FF2B5EF4-FFF2-40B4-BE49-F238E27FC236}">
                <a16:creationId xmlns:a16="http://schemas.microsoft.com/office/drawing/2014/main" id="{1BDFBAF9-4B35-46E3-9B6A-7F58D78A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52750"/>
            <a:ext cx="20193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learn-accent">
            <a:extLst xmlns:a="http://schemas.openxmlformats.org/drawingml/2006/main">
              <a:ext uri="{FF2B5EF4-FFF2-40B4-BE49-F238E27FC236}">
                <a16:creationId xmlns:a16="http://schemas.microsoft.com/office/drawing/2014/main" id="{70F990B9-3DB6-49E7-8B73-837ED65A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52750"/>
            <a:ext cx="666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learn-label">
            <a:extLst xmlns:a="http://schemas.openxmlformats.org/drawingml/2006/main">
              <a:ext uri="{FF2B5EF4-FFF2-40B4-BE49-F238E27FC236}">
                <a16:creationId xmlns:a16="http://schemas.microsoft.com/office/drawing/2014/main" id="{992076AC-6CF7-463F-BC43-CA041090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623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LEARN</a:t>
            </a:r>
          </a:p>
        </p:txBody>
      </p:sp>
      <p:sp>
        <p:nvSpPr>
          <p:cNvPr id="16" name="learn-detail">
            <a:extLst xmlns:a="http://schemas.openxmlformats.org/drawingml/2006/main">
              <a:ext uri="{FF2B5EF4-FFF2-40B4-BE49-F238E27FC236}">
                <a16:creationId xmlns:a16="http://schemas.microsoft.com/office/drawing/2014/main" id="{C28086CE-3663-40F0-9220-E4C81DD9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1950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Study measured successes and failures.</a:t>
            </a:r>
          </a:p>
        </p:txBody>
      </p:sp>
      <p:sp>
        <p:nvSpPr>
          <p:cNvPr id="17" name="arrow-5b">
            <a:extLst xmlns:a="http://schemas.openxmlformats.org/drawingml/2006/main">
              <a:ext uri="{FF2B5EF4-FFF2-40B4-BE49-F238E27FC236}">
                <a16:creationId xmlns:a16="http://schemas.microsoft.com/office/drawing/2014/main" id="{5D9F8FD6-FC19-4E96-9CC8-5D279579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409950"/>
            <a:ext cx="419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8542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55EEF"/>
                </a:solidFill>
              </a:defRPr>
            </a:pPr>
            <a:r>
              <a:rPr sz="2400" b="1">
                <a:solidFill>
                  <a:srgbClr val="155EEF"/>
                </a:solidFill>
              </a:rPr>
              <a:t>→</a:t>
            </a:r>
          </a:p>
        </p:txBody>
      </p:sp>
      <p:sp>
        <p:nvSpPr>
          <p:cNvPr id="18" name="candidate-box">
            <a:extLst xmlns:a="http://schemas.openxmlformats.org/drawingml/2006/main">
              <a:ext uri="{FF2B5EF4-FFF2-40B4-BE49-F238E27FC236}">
                <a16:creationId xmlns:a16="http://schemas.microsoft.com/office/drawing/2014/main" id="{B68E7F53-4644-43E7-88C1-7E48F9CF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52750"/>
            <a:ext cx="20193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candidate-accent">
            <a:extLst xmlns:a="http://schemas.openxmlformats.org/drawingml/2006/main">
              <a:ext uri="{FF2B5EF4-FFF2-40B4-BE49-F238E27FC236}">
                <a16:creationId xmlns:a16="http://schemas.microsoft.com/office/drawing/2014/main" id="{3BC49362-ACAF-4C72-8689-1417D787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52750"/>
            <a:ext cx="666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68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andidate-label">
            <a:extLst xmlns:a="http://schemas.openxmlformats.org/drawingml/2006/main">
              <a:ext uri="{FF2B5EF4-FFF2-40B4-BE49-F238E27FC236}">
                <a16:creationId xmlns:a16="http://schemas.microsoft.com/office/drawing/2014/main" id="{A6D3024E-374D-410A-A1B4-8CEFD130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623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CANDIDATE</a:t>
            </a:r>
          </a:p>
        </p:txBody>
      </p:sp>
      <p:sp>
        <p:nvSpPr>
          <p:cNvPr id="21" name="candidate-detail">
            <a:extLst xmlns:a="http://schemas.openxmlformats.org/drawingml/2006/main">
              <a:ext uri="{FF2B5EF4-FFF2-40B4-BE49-F238E27FC236}">
                <a16:creationId xmlns:a16="http://schemas.microsoft.com/office/drawing/2014/main" id="{54DB99EF-6DC0-47F4-9F5A-E50178CE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Create a new version of the workflow.</a:t>
            </a:r>
          </a:p>
        </p:txBody>
      </p:sp>
      <p:sp>
        <p:nvSpPr>
          <p:cNvPr id="22" name="arrow-5c">
            <a:extLst xmlns:a="http://schemas.openxmlformats.org/drawingml/2006/main">
              <a:ext uri="{FF2B5EF4-FFF2-40B4-BE49-F238E27FC236}">
                <a16:creationId xmlns:a16="http://schemas.microsoft.com/office/drawing/2014/main" id="{6D869630-3201-451C-B2C7-65282F9A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09950"/>
            <a:ext cx="419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8542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55EEF"/>
                </a:solidFill>
              </a:defRPr>
            </a:pPr>
            <a:r>
              <a:rPr sz="2400" b="1">
                <a:solidFill>
                  <a:srgbClr val="155EEF"/>
                </a:solidFill>
              </a:rPr>
              <a:t>→</a:t>
            </a:r>
          </a:p>
        </p:txBody>
      </p:sp>
      <p:sp>
        <p:nvSpPr>
          <p:cNvPr id="23" name="prove-box">
            <a:extLst xmlns:a="http://schemas.openxmlformats.org/drawingml/2006/main">
              <a:ext uri="{FF2B5EF4-FFF2-40B4-BE49-F238E27FC236}">
                <a16:creationId xmlns:a16="http://schemas.microsoft.com/office/drawing/2014/main" id="{EFE9E689-ABB9-4001-BAE5-B35F8EA9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52750"/>
            <a:ext cx="23622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9F0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4" name="prove-accent">
            <a:extLst xmlns:a="http://schemas.openxmlformats.org/drawingml/2006/main">
              <a:ext uri="{FF2B5EF4-FFF2-40B4-BE49-F238E27FC236}">
                <a16:creationId xmlns:a16="http://schemas.microsoft.com/office/drawing/2014/main" id="{2E352727-997F-47D9-8343-5F1EAA39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52750"/>
            <a:ext cx="666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98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rove-label">
            <a:extLst xmlns:a="http://schemas.openxmlformats.org/drawingml/2006/main">
              <a:ext uri="{FF2B5EF4-FFF2-40B4-BE49-F238E27FC236}">
                <a16:creationId xmlns:a16="http://schemas.microsoft.com/office/drawing/2014/main" id="{82C486D2-BDE9-42D8-9AA8-18C1097D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6230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PROVE</a:t>
            </a:r>
          </a:p>
        </p:txBody>
      </p:sp>
      <p:sp>
        <p:nvSpPr>
          <p:cNvPr id="26" name="prove-detail">
            <a:extLst xmlns:a="http://schemas.openxmlformats.org/drawingml/2006/main">
              <a:ext uri="{FF2B5EF4-FFF2-40B4-BE49-F238E27FC236}">
                <a16:creationId xmlns:a16="http://schemas.microsoft.com/office/drawing/2014/main" id="{070E6472-739A-417D-B7E8-697EE9C9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1950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Promote only if it performs better and stays allowed.</a:t>
            </a:r>
          </a:p>
        </p:txBody>
      </p:sp>
      <p:sp>
        <p:nvSpPr>
          <p:cNvPr id="27" name="decision-left">
            <a:extLst xmlns:a="http://schemas.openxmlformats.org/drawingml/2006/main">
              <a:ext uri="{FF2B5EF4-FFF2-40B4-BE49-F238E27FC236}">
                <a16:creationId xmlns:a16="http://schemas.microsoft.com/office/drawing/2014/main" id="{110F1340-DE49-4649-87B6-7468542B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C6803"/>
                </a:solidFill>
              </a:defRPr>
            </a:pPr>
            <a:r>
              <a:rPr sz="1200" b="1">
                <a:solidFill>
                  <a:srgbClr val="DC6803"/>
                </a:solidFill>
              </a:rPr>
              <a:t>IF IT FAILS: KEEP THE CURRENT VERSION</a:t>
            </a:r>
          </a:p>
        </p:txBody>
      </p:sp>
      <p:sp>
        <p:nvSpPr>
          <p:cNvPr id="28" name="decision-right">
            <a:extLst xmlns:a="http://schemas.openxmlformats.org/drawingml/2006/main">
              <a:ext uri="{FF2B5EF4-FFF2-40B4-BE49-F238E27FC236}">
                <a16:creationId xmlns:a16="http://schemas.microsoft.com/office/drawing/2014/main" id="{DD64EB6A-FD3E-4ACC-87D4-8F0A411F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625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39855"/>
                </a:solidFill>
              </a:defRPr>
            </a:pPr>
            <a:r>
              <a:rPr sz="1200" b="1">
                <a:solidFill>
                  <a:srgbClr val="039855"/>
                </a:solidFill>
              </a:rPr>
              <a:t>IF IT WINS: MAKE IT THE NEW VERSION</a:t>
            </a:r>
          </a:p>
        </p:txBody>
      </p:sp>
      <p:sp>
        <p:nvSpPr>
          <p:cNvPr id="29" name="guardrail">
            <a:extLst xmlns:a="http://schemas.openxmlformats.org/drawingml/2006/main">
              <a:ext uri="{FF2B5EF4-FFF2-40B4-BE49-F238E27FC236}">
                <a16:creationId xmlns:a16="http://schemas.microsoft.com/office/drawing/2014/main" id="{868A8D3E-D88F-41B3-BD8E-622775A2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1346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30" name="guardrail-copy">
            <a:extLst xmlns:a="http://schemas.openxmlformats.org/drawingml/2006/main">
              <a:ext uri="{FF2B5EF4-FFF2-40B4-BE49-F238E27FC236}">
                <a16:creationId xmlns:a16="http://schemas.microsoft.com/office/drawing/2014/main" id="{83EB735D-2997-41FF-A12E-9142823A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43550"/>
            <a:ext cx="956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The system learns how to work. You keep control of what “better” means.</a:t>
            </a:r>
          </a:p>
        </p:txBody>
      </p:sp>
    </p:spTree>
    <p:extLst>
      <p:ext uri="{BB962C8B-B14F-4D97-AF65-F5344CB8AC3E}">
        <p14:creationId xmlns:p14="http://schemas.microsoft.com/office/powerpoint/2010/main" val="11278800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2026-07-24T22:38:50.3340000Z</dcterms:created>
  <dcterms:modified xsi:type="dcterms:W3CDTF">2026-07-24T22:38:50.3340000Z</dcterms:modified>
</coreProperties>
</file>