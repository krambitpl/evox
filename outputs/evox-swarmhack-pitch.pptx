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ef4227b210413b" /><Relationship Type="http://schemas.openxmlformats.org/officeDocument/2006/relationships/extended-properties" Target="/docProps/app.xml" Id="Rb9c11df482bb4b11" /><Relationship Type="http://schemas.openxmlformats.org/officeDocument/2006/relationships/officeDocument" Target="/ppt/presentation.xml" Id="R3f460c7065254e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c7410147cd48d9"/>
  </p:sldMasterIdLst>
  <p:notesMasterIdLst>
    <p:notesMasterId xmlns:r="http://schemas.openxmlformats.org/officeDocument/2006/relationships" r:id="R99c61c66b7e74e55"/>
  </p:notesMasterIdLst>
  <p:sldIdLst>
    <p:sldId xmlns:r="http://schemas.openxmlformats.org/officeDocument/2006/relationships" id="256" r:id="R16274c5c2387491f"/>
    <p:sldId xmlns:r="http://schemas.openxmlformats.org/officeDocument/2006/relationships" id="257" r:id="R33cbb95d014f464b"/>
    <p:sldId xmlns:r="http://schemas.openxmlformats.org/officeDocument/2006/relationships" id="258" r:id="Redd882e894644b24"/>
    <p:sldId xmlns:r="http://schemas.openxmlformats.org/officeDocument/2006/relationships" id="259" r:id="R6e81c96dca8c419e"/>
    <p:sldId xmlns:r="http://schemas.openxmlformats.org/officeDocument/2006/relationships" id="260" r:id="R1798e1a657894afc"/>
    <p:sldId xmlns:r="http://schemas.openxmlformats.org/officeDocument/2006/relationships" id="261" r:id="R596c899aec3248d3"/>
    <p:sldId xmlns:r="http://schemas.openxmlformats.org/officeDocument/2006/relationships" id="262" r:id="R0e2886b839864c03"/>
    <p:sldId xmlns:r="http://schemas.openxmlformats.org/officeDocument/2006/relationships" id="263" r:id="R010307eee8874d21"/>
    <p:sldId xmlns:r="http://schemas.openxmlformats.org/officeDocument/2006/relationships" id="264" r:id="Rdea21e4c8dc34e7b"/>
    <p:sldId xmlns:r="http://schemas.openxmlformats.org/officeDocument/2006/relationships" id="265" r:id="Rca91da73c16d45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a380174ac84c25" /><Relationship Type="http://schemas.openxmlformats.org/officeDocument/2006/relationships/slideMaster" Target="/ppt/slideMasters/slideMaster1.xml" Id="R7cc7410147cd48d9" /><Relationship Type="http://schemas.openxmlformats.org/officeDocument/2006/relationships/notesMaster" Target="/ppt/notesMasters/notesMaster1.xml" Id="R99c61c66b7e74e55" /><Relationship Type="http://schemas.openxmlformats.org/officeDocument/2006/relationships/presProps" Target="/ppt/presProps.xml" Id="Re4c4a11e41ec4a3d" /><Relationship Type="http://schemas.openxmlformats.org/officeDocument/2006/relationships/tableStyles" Target="/ppt/tableStyles.xml" Id="R0bf266f2e206499f" /><Relationship Type="http://schemas.openxmlformats.org/officeDocument/2006/relationships/slide" Target="/ppt/slides/slide1.xml" Id="R16274c5c2387491f" /><Relationship Type="http://schemas.openxmlformats.org/officeDocument/2006/relationships/slide" Target="/ppt/slides/slide2.xml" Id="R33cbb95d014f464b" /><Relationship Type="http://schemas.openxmlformats.org/officeDocument/2006/relationships/slide" Target="/ppt/slides/slide3.xml" Id="Redd882e894644b24" /><Relationship Type="http://schemas.openxmlformats.org/officeDocument/2006/relationships/slide" Target="/ppt/slides/slide4.xml" Id="R6e81c96dca8c419e" /><Relationship Type="http://schemas.openxmlformats.org/officeDocument/2006/relationships/slide" Target="/ppt/slides/slide5.xml" Id="R1798e1a657894afc" /><Relationship Type="http://schemas.openxmlformats.org/officeDocument/2006/relationships/slide" Target="/ppt/slides/slide6.xml" Id="R596c899aec3248d3" /><Relationship Type="http://schemas.openxmlformats.org/officeDocument/2006/relationships/slide" Target="/ppt/slides/slide7.xml" Id="R0e2886b839864c03" /><Relationship Type="http://schemas.openxmlformats.org/officeDocument/2006/relationships/slide" Target="/ppt/slides/slide8.xml" Id="R010307eee8874d21" /><Relationship Type="http://schemas.openxmlformats.org/officeDocument/2006/relationships/slide" Target="/ppt/slides/slide9.xml" Id="Rdea21e4c8dc34e7b" /><Relationship Type="http://schemas.openxmlformats.org/officeDocument/2006/relationships/slide" Target="/ppt/slides/slide10.xml" Id="Rca91da73c16d45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6c73250f9e47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GORGOS Editorial">
      <a:dk1>
        <a:srgbClr val="0B1014"/>
      </a:dk1>
      <a:lt1>
        <a:srgbClr val="FFFFFF"/>
      </a:lt1>
      <a:dk2>
        <a:srgbClr val="101A21"/>
      </a:dk2>
      <a:lt2>
        <a:srgbClr val="F3EFE7"/>
      </a:lt2>
      <a:accent1>
        <a:srgbClr val="00A992"/>
      </a:accent1>
      <a:accent2>
        <a:srgbClr val="55D7E6"/>
      </a:accent2>
      <a:accent3>
        <a:srgbClr val="D15F34"/>
      </a:accent3>
      <a:accent4>
        <a:srgbClr val="007F72"/>
      </a:accent4>
      <a:accent5>
        <a:srgbClr val="16262F"/>
      </a:accent5>
      <a:accent6>
        <a:srgbClr val="655F57"/>
      </a:accent6>
      <a:hlink>
        <a:srgbClr val="007F72"/>
      </a:hlink>
      <a:folHlink>
        <a:srgbClr val="D15F3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ORGO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d7566f61c846aa" /><Relationship Type="http://schemas.openxmlformats.org/officeDocument/2006/relationships/notesMaster" Target="/ppt/notesMasters/notesMaster1.xml" Id="R30306081beb041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75ef88d9d24081" /><Relationship Type="http://schemas.openxmlformats.org/officeDocument/2006/relationships/notesMaster" Target="/ppt/notesMasters/notesMaster1.xml" Id="R8c29977992e04a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499278c1984f6c" /><Relationship Type="http://schemas.openxmlformats.org/officeDocument/2006/relationships/notesMaster" Target="/ppt/notesMasters/notesMaster1.xml" Id="R5ab810d932c141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ca755e84f246c1" /><Relationship Type="http://schemas.openxmlformats.org/officeDocument/2006/relationships/notesMaster" Target="/ppt/notesMasters/notesMaster1.xml" Id="Rae43d4f5c0944a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2ee5bfe65644b3" /><Relationship Type="http://schemas.openxmlformats.org/officeDocument/2006/relationships/notesMaster" Target="/ppt/notesMasters/notesMaster1.xml" Id="Rfe3e89359a1049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d16a8a64ab4269" /><Relationship Type="http://schemas.openxmlformats.org/officeDocument/2006/relationships/notesMaster" Target="/ppt/notesMasters/notesMaster1.xml" Id="Re8805e52b67a44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4a8e5627644653" /><Relationship Type="http://schemas.openxmlformats.org/officeDocument/2006/relationships/notesMaster" Target="/ppt/notesMasters/notesMaster1.xml" Id="R0c0ba90c035b4a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6004b19d9e4d04" /><Relationship Type="http://schemas.openxmlformats.org/officeDocument/2006/relationships/notesMaster" Target="/ppt/notesMasters/notesMaster1.xml" Id="R1c579c730bd14e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377428266b47b0" /><Relationship Type="http://schemas.openxmlformats.org/officeDocument/2006/relationships/notesMaster" Target="/ppt/notesMasters/notesMaster1.xml" Id="R97a63e7f0b484a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4a4412093a40af" /><Relationship Type="http://schemas.openxmlformats.org/officeDocument/2006/relationships/notesMaster" Target="/ppt/notesMasters/notesMaster1.xml" Id="Rbff1aed055ee43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Open: Agent systems are learning to change themselves. Evox makes them earn the right to ship those changes.</a:t>
            </a:r>
          </a:p>
          <a:p xmlns:a="http://schemas.openxmlformats.org/drawingml/2006/main">
            <a:r>
              <a:t>The image is a real render of the repository's MISSION.md, not a product mockup.</a:t>
            </a:r>
          </a:p>
          <a:p xmlns:a="http://schemas.openxmlformats.org/drawingml/2006/main">
            <a:r>
              <a:t>Sources: MISSION.md;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frameworks already generate prompts, graphs, and tool chains. The release gap is proving that a better-looking candidate is safe and genuinely better.</a:t>
            </a:r>
          </a:p>
          <a:p xmlns:a="http://schemas.openxmlformats.org/drawingml/2006/main">
            <a:r>
              <a:t>Evox freezes the mission, authority, rubric, and held-out evidence before release evaluation.</a:t>
            </a:r>
          </a:p>
          <a:p xmlns:a="http://schemas.openxmlformats.org/drawingml/2006/main">
            <a:r>
              <a:t>Sources: MISSION.md; docs/plans/2026-07-24-evox-implementation.md.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candidate that sees the hidden exam or moves the scoring rule has not learned—it has gamed the gate.</a:t>
            </a:r>
          </a:p>
          <a:p xmlns:a="http://schemas.openxmlformats.org/drawingml/2006/main">
            <a:r>
              <a:t>Evox produces only three release outcomes: promote, owner review, or reject, each with evidence.</a:t>
            </a:r>
          </a:p>
          <a:p xmlns:a="http://schemas.openxmlformats.org/drawingml/2006/main">
            <a:r>
              <a:t>Sources: docs/plans/2026-07-24-evox-implementation.md; packages/api/src/evox_api/domain/contracts.py.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Define, System, Trial, Gate, Operate. The live version never self-edits; feedback starts a new offline candidate cycle.</a:t>
            </a:r>
          </a:p>
          <a:p xmlns:a="http://schemas.openxmlformats.org/drawingml/2006/main">
            <a:r>
              <a:t>The core division of labor is concise: EvoAgentX evolves; Evox governs authority.</a:t>
            </a:r>
          </a:p>
          <a:p xmlns:a="http://schemas.openxmlformats.org/drawingml/2006/main">
            <a:r>
              <a:t>Sources: README.md; MISSION.md; claude-docs/2026-07-24-design-decisions.md.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mutable surface is intentionally narrow: prompts and sequential edges. Owner identity, permissions, evaluator, hard constraints, and budgets stay immutable.</a:t>
            </a:r>
          </a:p>
          <a:p xmlns:a="http://schemas.openxmlformats.org/drawingml/2006/main">
            <a:r>
              <a:t>The components are code-integrated, but production job dispatch still has no handlers; real runtime configuration and evidence also remain required. Current status is on slide 8.</a:t>
            </a:r>
          </a:p>
          <a:p xmlns:a="http://schemas.openxmlformats.org/drawingml/2006/main">
            <a:r>
              <a:t>For a timed pitch, present only the constitution-versus-workflow distinction; the diagram is reference detail for judges.</a:t>
            </a:r>
          </a:p>
          <a:p xmlns:a="http://schemas.openxmlformats.org/drawingml/2006/main">
            <a:r>
              <a:t>Sources: docs/plans/2026-07-24-evox-implementation.md; evidence/agent-1-handoff.md; docs/research/architecture-and-sponsors.md.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evaluator is deliberately narrow: resolve real EvoAgentX issues from official documentation.</a:t>
            </a:r>
          </a:p>
          <a:p xmlns:a="http://schemas.openxmlformats.org/drawingml/2006/main">
            <a:r>
              <a:t>The committed locked corpus has fifteen real cases split 8 train, 4 dev, 3 held-out. The candidate freezes before three repeated held-out runs.</a:t>
            </a:r>
          </a:p>
          <a:p xmlns:a="http://schemas.openxmlformats.org/drawingml/2006/main">
            <a:r>
              <a:t>Promotion requires at least +0.05 overall, no held-out regression, all hard gates, and an unchanged immutable digest.</a:t>
            </a:r>
          </a:p>
          <a:p xmlns:a="http://schemas.openxmlformats.org/drawingml/2006/main">
            <a:r>
              <a:t>The corpus is real and locked; the thresholds are requirements, not achieved live results.</a:t>
            </a:r>
          </a:p>
          <a:p xmlns:a="http://schemas.openxmlformats.org/drawingml/2006/main">
            <a:r>
              <a:t>Sources: evidence/agent-10-handoff.md; docs/plans/2026-07-24-evox-implementation.md.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sponsor adapters are integrated and each changes a distinct boundary: Pioneer models, Senso cited knowledge, Actian failure memory, Band human escalation, Guild release publication, Replay browser QA.</a:t>
            </a:r>
          </a:p>
          <a:p xmlns:a="http://schemas.openxmlformats.org/drawingml/2006/main">
            <a:r>
              <a:t>Integration is not live proof. Real configuration and evidence remain mandatory; an unavailable dependency removes the claim and never triggers a fake or fallback path.</a:t>
            </a:r>
          </a:p>
          <a:p xmlns:a="http://schemas.openxmlformats.org/drawingml/2006/main">
            <a:r>
              <a:t>Sources: README.md; docs/research/architecture-and-sponsors.md; AGENTS.md.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exact about revision f5da248: 73 API-suite tests, 5 corpus tests, 4 web unit tests, lint green, and a successful production web build. The API total includes 24 contract and 4 integration tests.</a:t>
            </a:r>
          </a:p>
          <a:p xmlns:a="http://schemas.openxmlformats.org/drawingml/2006/main">
            <a:r>
              <a:t>Persistence, queue, adapters, locked corpus, cockpit, and the AWS lane are code-integrated. Production job dispatch has no handlers, and the public deployment plus live sponsor/Replay verification are absent.</a:t>
            </a:r>
          </a:p>
          <a:p xmlns:a="http://schemas.openxmlformats.org/drawingml/2006/main">
            <a:r>
              <a:t>Sources: evidence/agent-10-handoff.md; evidence/agent-15-handoff.md; evidence/live/2026-07-24-live-audit.md; current verification run on 2026-07-24.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issue resolver is a falsifiable beachhead. The product contract is generic: define a measurable mission, forge candidates, prove one, operate it, and learn through new offline cycles.</a:t>
            </a:r>
          </a:p>
          <a:p xmlns:a="http://schemas.openxmlformats.org/drawingml/2006/main">
            <a:r>
              <a:t>Source: MISSION.md; outreach-research/claude-docs/2026-07-24-gorgos-generic-agent-system-user-definition-verbatim.md.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Close: One mission. One candidate. One proof.</a:t>
            </a:r>
          </a:p>
          <a:p xmlns:a="http://schemas.openxmlformats.org/drawingml/2006/main">
            <a:r>
              <a:t>The integrated components are real; end-to-end job dispatch, credentialed live sponsor calls, public deployment, and promotion evidence are the remaining proof. The product promise is that self-evolution becomes useful when owners can see what changed, why it changed, and why a candidate should earn authority.</a:t>
            </a:r>
          </a:p>
          <a:p xmlns:a="http://schemas.openxmlformats.org/drawingml/2006/main">
            <a:r>
              <a:t>Sources: MISSION.md; README.md; docs/plans/2026-07-24-evox-implementation.md.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0c34caa7e44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24a909810c4e8a" /><Relationship Type="http://schemas.openxmlformats.org/officeDocument/2006/relationships/slideLayout" Target="/ppt/slideLayouts/slideLayout1.xml" Id="Ra8d8ce5a9b3240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d8ce5a9b3240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GORGOS Editorial">
      <a:dk1>
        <a:srgbClr val="0B1014"/>
      </a:dk1>
      <a:lt1>
        <a:srgbClr val="FFFFFF"/>
      </a:lt1>
      <a:dk2>
        <a:srgbClr val="101A21"/>
      </a:dk2>
      <a:lt2>
        <a:srgbClr val="F3EFE7"/>
      </a:lt2>
      <a:accent1>
        <a:srgbClr val="00A992"/>
      </a:accent1>
      <a:accent2>
        <a:srgbClr val="55D7E6"/>
      </a:accent2>
      <a:accent3>
        <a:srgbClr val="D15F34"/>
      </a:accent3>
      <a:accent4>
        <a:srgbClr val="007F72"/>
      </a:accent4>
      <a:accent5>
        <a:srgbClr val="16262F"/>
      </a:accent5>
      <a:accent6>
        <a:srgbClr val="655F57"/>
      </a:accent6>
      <a:hlink>
        <a:srgbClr val="007F72"/>
      </a:hlink>
      <a:folHlink>
        <a:srgbClr val="D15F3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ORGO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558b511c64d41" /><Relationship Type="http://schemas.openxmlformats.org/officeDocument/2006/relationships/image" Target="/ppt/media/image.png" Id="R6adba9e4569c4fc5" /><Relationship Type="http://schemas.openxmlformats.org/officeDocument/2006/relationships/notesSlide" Target="/ppt/notesSlides/notesSlide1.xml" Id="Rf21be64b5bde46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90b8f33ad4545" /><Relationship Type="http://schemas.openxmlformats.org/officeDocument/2006/relationships/notesSlide" Target="/ppt/notesSlides/notesSlide2.xml" Id="R9a2eef2e2f3c4c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ca9bb145e47d8" /><Relationship Type="http://schemas.openxmlformats.org/officeDocument/2006/relationships/notesSlide" Target="/ppt/notesSlides/notesSlide3.xml" Id="R63020f2d1b4c41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066e8d55d4172" /><Relationship Type="http://schemas.openxmlformats.org/officeDocument/2006/relationships/notesSlide" Target="/ppt/notesSlides/notesSlide4.xml" Id="R747140c5ef3e4e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b483bc1c34d82" /><Relationship Type="http://schemas.openxmlformats.org/officeDocument/2006/relationships/notesSlide" Target="/ppt/notesSlides/notesSlide5.xml" Id="R93a6de54270d4e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8fb637e0d4474" /><Relationship Type="http://schemas.openxmlformats.org/officeDocument/2006/relationships/notesSlide" Target="/ppt/notesSlides/notesSlide6.xml" Id="R47b5db45c02e45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d7762add44c79" /><Relationship Type="http://schemas.openxmlformats.org/officeDocument/2006/relationships/notesSlide" Target="/ppt/notesSlides/notesSlide7.xml" Id="R69afa472030546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e3ead0a654348" /><Relationship Type="http://schemas.openxmlformats.org/officeDocument/2006/relationships/notesSlide" Target="/ppt/notesSlides/notesSlide8.xml" Id="Rbb0389c12bb84e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85c57301a4b19" /><Relationship Type="http://schemas.openxmlformats.org/officeDocument/2006/relationships/notesSlide" Target="/ppt/notesSlides/notesSlide9.xml" Id="R37942b1f72b645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1e5b485754dcc" /><Relationship Type="http://schemas.openxmlformats.org/officeDocument/2006/relationships/notesSlide" Target="/ppt/notesSlides/notesSlide10.xml" Id="R727f5c7c702943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65BF2-8007-460B-9065-BEF6F0EF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rPr>
              <a:t>EVOX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76D51-9442-4272-811D-AA1A9B4D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25AE-8E24-493B-A200-2EB53AB5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8B1B5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A8B1B5"/>
                </a:solidFill>
                <a:latin typeface="Space Grotesk"/>
                <a:ea typeface="Space Grotesk"/>
                <a:cs typeface="Space Grotesk"/>
              </a:rPr>
              <a:t>01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C5AB8-2560-4523-A8E2-9AD164EF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219200"/>
            <a:ext cx="59817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ba9e4569c4fc5"/>
          <a:srcRect xmlns:a="http://schemas.openxmlformats.org/drawingml/2006/main" l="0" t="16013" r="0" b="16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38800" y="1295400"/>
            <a:ext cx="5829300" cy="3962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70939-85E6-4B32-89CF-13779A14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295400"/>
            <a:ext cx="582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D7207-1607-483E-8601-F8840F98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51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EVOX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A3EC8-122C-45C2-823F-DABD497C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rPr>
              <a:t>Governed evolution for agent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3435F-70F8-4D43-859C-E67A473C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Turn a measurable mission into an agentic system—and promote only the candidates that prove they deserve authority.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C33F6-2E92-4D84-99EE-06E19B52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9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BC4C0-D0FA-4EED-82AF-F489D9B8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410200"/>
            <a:ext cx="582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Mission contract · current repository source</a:t>
            </a:r>
          </a:p>
        </p:txBody>
      </p:sp>
    </p:spTree>
    <p:extLst>
      <p:ext uri="{BB962C8B-B14F-4D97-AF65-F5344CB8AC3E}">
        <p14:creationId xmlns:p14="http://schemas.microsoft.com/office/powerpoint/2010/main" val="149877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DF4620-520D-4FB8-93F6-26E2B1D4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THE RELEASE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855F4-B866-424E-AFEF-A7A65097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4FFCD-12D1-4A6A-93AD-B238A5A0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97268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797268"/>
                </a:solidFill>
                <a:latin typeface="Space Grotesk"/>
                <a:ea typeface="Space Grotesk"/>
                <a:cs typeface="Space Grotesk"/>
              </a:rPr>
              <a:t>02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66CAE-A667-4DB0-8678-ADEE061E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292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Agent builders generate. Evox governs release.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48FCB-F30B-44B5-8C0C-4EBFA80B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TODAY · UNGOVERNED EVOLUTION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91580-E68F-4144-A0BE-CA3657F7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1F710-5009-43D3-81C5-7E1562AC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EVOX · EVIDENCE-GATED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284AF-7ED6-4792-8343-FD831F44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D25C4-7C5D-47FE-ABE6-FC1B2E80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8607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6BFBC-09B7-4CC8-8D3B-36488ED7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718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5F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79684-BA94-438D-ABBB-77DD3700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2890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5F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C264B-92A1-4C58-B84A-08875470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4317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5F34"/>
          </a:solidFill>
          <a:ln xmlns:a="http://schemas.openxmlformats.org/drawingml/2006/main" w="0">
            <a:solidFill>
              <a:srgbClr val="D15F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B7D61-5AF1-409A-B9D9-5CC0614C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2897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5F34"/>
          </a:solidFill>
          <a:ln xmlns:a="http://schemas.openxmlformats.org/drawingml/2006/main" w="0">
            <a:solidFill>
              <a:srgbClr val="D15F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4275B-F258-48E1-8497-49AE95DF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A70C0-53B6-40AD-B831-A4C9AC92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147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C4DD9-36AF-45B8-9537-09B3D006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2890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18A5B-5D07-4519-B03B-21898F9D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86075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CFC6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BA137-E167-4B09-83C2-668191E3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305425"/>
            <a:ext cx="590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98AEF-9E40-4B9B-8B86-016744A1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05425"/>
            <a:ext cx="590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22FDDE-2F57-4E47-A5BB-E614C308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05425"/>
            <a:ext cx="590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39F1EC-8042-49DF-89FA-3EFEE75A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885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7CDDF7-6813-4B68-B69D-01F12674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574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Mission set by humans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327D91-C431-41A2-979D-BE2FA690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success · limits ·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9D9B1-C862-4F28-B965-C3CC525B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1460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D15F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CB2324-1AED-4739-8FAC-1A9E8189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5747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candidate generation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D16E25-0CA8-40EC-8918-FCC51367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623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prompts · graphs · models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FA76B7-8F1D-4F88-9A76-6D7D2FBC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05050"/>
            <a:ext cx="2990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5319D9-BDCB-4928-918C-C7CE80F5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622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optimizer sees the 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7D6F9E-716B-43C7-A7E3-B391FEE7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2415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mutable rubric · leaky feedback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CC0678-C37A-406F-BB92-4F420707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2990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F470E7-AB5F-485E-ACD5-EF5AAA48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623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authority drifts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4CA984-3573-4720-B0F3-66658D63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2425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permissions expand silently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F2E1E5-4A0E-4ABF-A4FB-CAEAA3C8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14600"/>
            <a:ext cx="1924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6348EC-0D81-4E24-8F11-C9F344D3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57475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plausible improvement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BB7656-2166-491C-A0BE-892F4BAE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623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better demo; unclear authority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D1BEB2-ACC1-4868-9298-936FA602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5339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owner defines authority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57BFC2-FD23-4CAA-8340-0D34C173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359EE4-086E-463F-89D4-6EEEDE06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typed mission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B77B48-B169-4EB9-9C81-792E3FD8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objective · budget · hard constraints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EE2986-3CD2-4CC3-A579-0EC30533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577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2"/>
          </a:solidFill>
          <a:ln xmlns:a="http://schemas.openxmlformats.org/drawingml/2006/main" w="19050">
            <a:solidFill>
              <a:srgbClr val="007F7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3F73A6-7ECD-45AA-B98F-94BFC4FB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292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offline evolution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5D658C-908B-4A65-BC9E-F6AC6762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245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C9F2EB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C9F2EB"/>
                </a:solidFill>
                <a:latin typeface="Space Grotesk"/>
                <a:ea typeface="Space Grotesk"/>
                <a:cs typeface="Space Grotesk"/>
              </a:rPr>
              <a:t>candidate freezes before release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25B585-100E-4930-96CC-F2A7E9B7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577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E79280-A4B6-421E-ABCD-E634DD88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92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sealed evaluation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8E2088-44EC-4793-80F2-F4A395E9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45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held-out cases stay invisible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85882F-BC85-4670-AE26-FEC066A7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57750"/>
            <a:ext cx="2362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40CADD-646B-4C56-AA29-069305F5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292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earned authority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E7B5BA-1314-4BAE-8564-FC3C3D5C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245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rPr>
              <a:t>promote · owner review · reject</a:t>
            </a:r>
          </a:p>
        </p:txBody>
      </p:sp>
    </p:spTree>
    <p:extLst>
      <p:ext uri="{BB962C8B-B14F-4D97-AF65-F5344CB8AC3E}">
        <p14:creationId xmlns:p14="http://schemas.microsoft.com/office/powerpoint/2010/main" val="216715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F3D25B-FD8F-43D9-B624-55FF42F5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rPr>
              <a:t>WHY GOVERNANCE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FDB83-33D5-4F1F-B833-10D23121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BEB46-D117-474F-9E91-1BF23E3C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8B1B5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A8B1B5"/>
                </a:solidFill>
                <a:latin typeface="Space Grotesk"/>
                <a:ea typeface="Space Grotesk"/>
                <a:cs typeface="Space Grotesk"/>
              </a:rPr>
              <a:t>03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E64F2-AB9B-47AF-A6B6-FBC78AD4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The same candidate can look better—and still be unsafe.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AF97F-EDD7-4CC1-BD73-9DBB9BEC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A score increase is meaningless if the candidate changed the evaluator, expanded permissions, or saw the held-out 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776E2-2B8F-4DBE-BD43-DBC8338C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rPr>
              <a:t>Evox compares versions only after policy, data, and budgets are frozen.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27AFB-CE4E-424F-BDB6-60C6AA09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3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A2245-A628-4417-A7D0-F2C143FA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UNGOVERNED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B7D3A-7E47-47E3-A66C-A01CD865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Candidate optimizes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23E19-9461-4305-840C-DAF34976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461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0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A8923-9888-4F2C-A178-7A29F991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343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7E6"/>
          </a:solidFill>
          <a:ln xmlns:a="http://schemas.openxmlformats.org/drawingml/2006/main" w="0">
            <a:solidFill>
              <a:srgbClr val="55D7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37144-65D4-448A-A1B4-D29263A3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67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training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4B173-A250-49F2-A7BD-7F69E535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343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7E6"/>
          </a:solidFill>
          <a:ln xmlns:a="http://schemas.openxmlformats.org/drawingml/2006/main" w="0">
            <a:solidFill>
              <a:srgbClr val="55D7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17307-B2D6-4F83-A833-A4C751CA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metric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A50FF-0FA4-4E3A-B2A2-759954A2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43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7E6"/>
          </a:solidFill>
          <a:ln xmlns:a="http://schemas.openxmlformats.org/drawingml/2006/main" w="0">
            <a:solidFill>
              <a:srgbClr val="55D7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B4AAE-4960-49D9-9166-43B7D2DE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A5929-28F0-451F-973E-C9DCAECF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623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E9533-202C-4623-80F0-03A66685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670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2BE79-F6AB-4C7B-A44B-76A13F5D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1733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B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AA6E9-4254-4D56-B679-C8A23951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24200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Evaluator or permissions shift during the run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499A02-FD83-49A2-AAAA-8A6023A5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24225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5F34"/>
          </a:solidFill>
          <a:ln xmlns:a="http://schemas.openxmlformats.org/drawingml/2006/main" w="0">
            <a:solidFill>
              <a:srgbClr val="D15F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2DA61-18D8-4029-ACA4-3A252DFF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670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019"/>
          </a:solidFill>
          <a:ln xmlns:a="http://schemas.openxmlformats.org/drawingml/2006/main" w="19050">
            <a:solidFill>
              <a:srgbClr val="D15F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846FFF-60AB-429F-99D3-E2CC1481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3850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apparent gain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3CD75-2620-4CBD-BC68-20CD940C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B"/>
          </a:solidFill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D7C0F9-1C56-48C6-8E90-5E831EBD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rPr>
              <a:t>EVOX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306579-D5C0-4D01-9BFA-8E45C748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Sealed evidence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055D98-CDE9-4753-A019-B32478D4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9110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D7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90899D-F8CA-4700-A538-6B7D3549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7E6"/>
          </a:solidFill>
          <a:ln xmlns:a="http://schemas.openxmlformats.org/drawingml/2006/main" w="0">
            <a:solidFill>
              <a:srgbClr val="55D7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62CFD5-9D07-438F-AFF2-594914EB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81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train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452DA2-10D3-402E-9DF8-C92134B8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7E6"/>
          </a:solidFill>
          <a:ln xmlns:a="http://schemas.openxmlformats.org/drawingml/2006/main" w="0">
            <a:solidFill>
              <a:srgbClr val="55D7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A4185B-00F6-4B6F-B57E-1AC12478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81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dev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227408-66F7-45C9-8054-B26657B3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7E6"/>
          </a:solidFill>
          <a:ln xmlns:a="http://schemas.openxmlformats.org/drawingml/2006/main" w="0">
            <a:solidFill>
              <a:srgbClr val="55D7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05E90A-CBD6-485A-8AE8-C195585A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81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held-out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FA4B03-4F07-49B3-B07E-25BFA2DB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054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A1F799-51C2-40DF-B160-0E2BB045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2B"/>
          </a:solidFill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98A0B7-9C06-4BEB-8D30-4520AC4D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863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rPr>
              <a:t>3 repeats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B0609A-4FC9-47C7-ADFF-05A08CF0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911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614297-8E8E-47AA-99EE-81FA257E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76750"/>
            <a:ext cx="1076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A99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334C4E-0347-4B59-870F-C8070D3C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767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A99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50CE22-D921-4E09-A22F-05EF4AB3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767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A99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77DD92-124F-4CC4-9FF0-1142FF93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05350"/>
            <a:ext cx="1143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FEC0CE-B43B-4B46-B3A5-E23AF63D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29150"/>
            <a:ext cx="1943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039"/>
          </a:solidFill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7764E4-0E6F-4158-85D0-2643AF14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434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rPr>
              <a:t>Proposed release: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944DB4-05EA-459A-A919-3ACD492F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673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Improve without moving the goalposts.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E16976-B7A1-4148-9B49-642F2270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788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POLICY + OWNER CONTROL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8E245D-71F8-4430-AC20-3C4E26FB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0"/>
            <a:ext cx="13335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15F34"/>
          </a:solidFill>
          <a:ln xmlns:a="http://schemas.openxmlformats.org/drawingml/2006/main" w="0">
            <a:solidFill>
              <a:srgbClr val="D15F3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E5370F-DC02-4D35-9086-7A11BE3B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38725"/>
            <a:ext cx="533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1EDE48-7DE2-4197-BA5D-3D1661C1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29150"/>
            <a:ext cx="2152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03A"/>
          </a:solidFill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F23FFE-CB13-442D-B9D5-B7AC28AF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053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rPr>
              <a:t>DECISION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931A0E-36F5-4102-BA0D-F7CD7448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149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938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Promote, send to owner review, or reject—with an auditable receipt.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C8575C-338F-44EB-BE0B-916A19E4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rPr>
              <a:t>Same candidate. Fixed rules. A trustworthy decision.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9CD5F7-DECC-4A4F-9BA4-9FB775F7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98170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Target release contract; verified implementation status appears on slide 8.</a:t>
            </a:r>
          </a:p>
        </p:txBody>
      </p:sp>
    </p:spTree>
    <p:extLst>
      <p:ext uri="{BB962C8B-B14F-4D97-AF65-F5344CB8AC3E}">
        <p14:creationId xmlns:p14="http://schemas.microsoft.com/office/powerpoint/2010/main" val="1431293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0D517C-6052-4BC1-80D5-25E6DE5C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rPr>
              <a:t>PRODUCT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8B041-A831-43CC-A863-E73D2E6E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E33B4-04C1-450F-9C77-82D1F9B0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8B1B5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A8B1B5"/>
                </a:solidFill>
                <a:latin typeface="Space Grotesk"/>
                <a:ea typeface="Space Grotesk"/>
                <a:cs typeface="Space Grotesk"/>
              </a:rPr>
              <a:t>04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660EF-ACB9-4CE4-B3C7-574CFF9F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EvoAgentX evolves candidates. Evox decides whether they earned authority.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AC5AE-A184-452D-97D3-D6DA8E62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The owner defines success once. Every later action stays inside that mission contract.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C0E8B-CE36-4867-B06B-9A15CF82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F9096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7F9096"/>
                </a:solidFill>
                <a:latin typeface="Space Grotesk"/>
                <a:ea typeface="Space Grotesk"/>
                <a:cs typeface="Space Grotesk"/>
              </a:rPr>
              <a:t>OWNER-FACING LIFECYCLE  •  FIVE STATES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34D21-8505-4A83-A522-88761652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6710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204FB-9252-4247-8601-CA717FE4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D7E6"/>
          </a:solidFill>
          <a:ln xmlns:a="http://schemas.openxmlformats.org/drawingml/2006/main" w="0">
            <a:solidFill>
              <a:srgbClr val="55D7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66CD9-6C70-4020-A4E0-29677192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6710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66F19-5BD2-42AF-8D3D-1A54A296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6710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D7E6"/>
          </a:solidFill>
          <a:ln xmlns:a="http://schemas.openxmlformats.org/drawingml/2006/main" w="0">
            <a:solidFill>
              <a:srgbClr val="55D7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F14CB-38C7-4193-B383-4EB83AE4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5433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BD22C-0D56-44CE-A209-C7E43908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5433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2401B-4A7C-4819-8D97-9EB92F99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924550"/>
            <a:ext cx="1016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27B20-2D2C-4BA3-AF0E-30B0291C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076700"/>
            <a:ext cx="0" cy="1847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90BD2C-B028-4FAC-A7B6-00D0FFD0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57650"/>
            <a:ext cx="114300" cy="171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4404A"/>
          </a:solidFill>
          <a:ln xmlns:a="http://schemas.openxmlformats.org/drawingml/2006/main" w="0">
            <a:solidFill>
              <a:srgbClr val="24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0C6FA-4C6D-441D-8C4C-83872730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830"/>
          </a:solidFill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51571-E0C3-47AE-BF71-0CEA1883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0990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830"/>
          </a:solidFill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FC812-5E42-435E-9DFC-1D6A4CCD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9900"/>
            <a:ext cx="1485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830"/>
          </a:solidFill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A9A0B-DA6C-4AE6-AE5B-7CB3CE3C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9900"/>
            <a:ext cx="1485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830"/>
          </a:solidFill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07F68-7AA0-4FE4-93B8-D9A3329C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19400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1"/>
          </a:solidFill>
          <a:ln xmlns:a="http://schemas.openxmlformats.org/drawingml/2006/main" w="19050">
            <a:solidFill>
              <a:srgbClr val="55D7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86DFBD-AFF0-4339-ACD3-316BF99E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Define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DCCE2-01C8-4AB0-ACF3-9E84E838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15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objective · success · budget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0FFD0-19E3-4FBF-B69B-6AB5ACBE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71825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C83273-2E88-4B8C-B323-261EC440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graph models tools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5B7D0B-CA75-4A6E-822E-C3029464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3370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Evidence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D27799-AD54-40AC-A327-F9F0029F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19450"/>
            <a:ext cx="241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4B0292-CB75-4D72-AE91-C6990C7F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71875"/>
            <a:ext cx="241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78024-01C2-438C-AB6F-B6AB968E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24300"/>
            <a:ext cx="241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1CDFD3-C4A1-499D-8566-6A34CE23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051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992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00A992"/>
                </a:solidFill>
                <a:latin typeface="Space Grotesk"/>
                <a:ea typeface="Space Grotesk"/>
                <a:cs typeface="Space Grotesk"/>
              </a:rPr>
              <a:t>TRIAL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157C01-FE9B-4574-9C6D-85EC9DC5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train + dev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7ACAC8-45D0-4A60-A7AF-6681DECF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576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RELEASE 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19CF14-2863-462A-A07A-6D6C3B3B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sealed held-out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C3BE98-02F1-4285-930F-01A308EE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1002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HARD STOP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B7ADC6-B336-4BD7-8C38-023CF826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policy breach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14251D-2C43-4659-A309-4B04C7A7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718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Operate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689D1D-F05B-4DDC-85E7-6166D672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active version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BB726F-F446-4449-A6BB-B3699370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718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Learn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380B87-48DE-4752-BF6A-97EE4CF8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5242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FF0E3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9FF0E3"/>
                </a:solidFill>
                <a:latin typeface="Space Grotesk"/>
                <a:ea typeface="Space Grotesk"/>
                <a:cs typeface="Space Grotesk"/>
              </a:rPr>
              <a:t>feedback + rollback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00F1DC-C11F-4EC3-8332-463F2EBF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21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rPr>
              <a:t>PRE-FREEZE  •  mission + rubric + data split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2699D7-1F3E-46C2-A7C9-68CC3D7F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62500"/>
            <a:ext cx="521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rPr>
              <a:t>POST-GATE  •  receipt + release + rollback target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A271CF-0280-4083-8E76-A5D5B973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A23790-EE5B-4E93-B89F-7E6A3E03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054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D7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C22A52-C262-4A34-8836-B1C253C2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521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No candidate can edit the authority boundary that judges it.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B3F256-9F65-4AFF-9558-33BEBA25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38750"/>
            <a:ext cx="521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Production stays versioned; failures enqueue an offline cycle.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0951B5-94AC-40D7-B933-7859022A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019800"/>
            <a:ext cx="415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17178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617178"/>
                </a:solidFill>
                <a:latin typeface="Space Grotesk"/>
                <a:ea typeface="Space Grotesk"/>
                <a:cs typeface="Space Grotesk"/>
              </a:rPr>
              <a:t>LIVE FEEDBACK  →  OFFLINE CANDIDATE  →  NEW GATE</a:t>
            </a:r>
          </a:p>
        </p:txBody>
      </p:sp>
    </p:spTree>
    <p:extLst>
      <p:ext uri="{BB962C8B-B14F-4D97-AF65-F5344CB8AC3E}">
        <p14:creationId xmlns:p14="http://schemas.microsoft.com/office/powerpoint/2010/main" val="8294599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DFC7D88-220E-4544-A7AB-7A4B5C40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EVOLUTION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ACEC4-5D10-46D5-B7D9-6EBC0BD4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096C2-226E-4489-8E9B-8E8F5A74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97268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797268"/>
                </a:solidFill>
                <a:latin typeface="Space Grotesk"/>
                <a:ea typeface="Space Grotesk"/>
                <a:cs typeface="Space Grotesk"/>
              </a:rPr>
              <a:t>05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29601-38C6-4DB0-8441-FD294BE4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217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The workflow may evolve. The constitution may not.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9BDBA-3381-4975-83DF-3E3A5040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Evox isolates the mutable operating procedure from identity, permissions, budgets, and release rules.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9FA17-C9E3-4D12-8811-AA90E1CE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486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CODE-INTEGRATED · JOB DISPATCH PENDING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84B8E-CF31-496A-952E-DE1CD499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14700"/>
            <a:ext cx="628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1B4CE-C0B9-4347-9D98-C6E7F4FE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909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62E54-700C-476C-A178-B4AA92B3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432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9A596-9B7C-4D55-A100-68A71C2F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0DFF2-2383-4736-A93B-1D0F7514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3855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8E3AC-39CD-4C15-A205-08E5DFA7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2D69E-A999-4BBF-8D01-91054E7A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14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2DB05-A21A-45D4-9635-2D2B7CA9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34743-09D2-4D12-BEAB-36B344D8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14700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5E038-FD66-4FED-B237-30260E72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14700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9E48B-1FB8-459A-B781-9FDEDB60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847975"/>
            <a:ext cx="15240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A3A80-BBE9-48A9-8EDD-96D108BC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29025"/>
            <a:ext cx="1524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15F34"/>
          </a:solidFill>
          <a:ln xmlns:a="http://schemas.openxmlformats.org/drawingml/2006/main" w="0">
            <a:solidFill>
              <a:srgbClr val="D15F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36F4F-8CB4-441F-9371-AC855399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7672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5F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698EE-2C18-4253-A006-4458951D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7197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5F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1CBC4-AD15-4E10-ABA6-D3185EC2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71975"/>
            <a:ext cx="152400" cy="76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3CAAEB-184E-468A-9898-29EC5A6B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371975"/>
            <a:ext cx="152400" cy="76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15F34"/>
          </a:solidFill>
          <a:ln xmlns:a="http://schemas.openxmlformats.org/drawingml/2006/main" w="0">
            <a:solidFill>
              <a:srgbClr val="D15F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BE696-45D3-4838-8934-39935E6E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33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8F1D01-2973-4F49-849B-9CBCE3CA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772025"/>
            <a:ext cx="6543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E51C9F-9C68-4B7F-B44C-5E6699B2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629025"/>
            <a:ext cx="152400" cy="11430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F8AB16-0CD4-4546-9606-BEFD148A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671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D7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3DAD97-CEB0-4C60-A60E-23D75C12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067175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D7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B8CED3-CEFD-4F70-AF86-213A12E2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733925"/>
            <a:ext cx="1524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D7E6"/>
          </a:solidFill>
          <a:ln xmlns:a="http://schemas.openxmlformats.org/drawingml/2006/main" w="0">
            <a:solidFill>
              <a:srgbClr val="55D7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786D1B-EAE4-440B-A484-26B3CA9C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0" cy="1952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D7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A6FFAC-0BC3-4F77-B523-263AC11A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114300" cy="952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55D7E6"/>
          </a:solidFill>
          <a:ln xmlns:a="http://schemas.openxmlformats.org/drawingml/2006/main" w="0">
            <a:solidFill>
              <a:srgbClr val="55D7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EBA313-A52D-4031-9FE3-4823A6FB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1125200" cy="398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CFC6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5B26BF-402B-40F9-8F06-A9A4749C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TYPED OWNER MISSION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8760C4-49E1-44D4-8BE8-204BA98F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1"/>
          </a:solidFill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25B228-DE30-4152-9750-18EC5AA6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MissionContract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9D1A7D-9C5E-4C0A-9F61-BB3C6456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447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9FF0E3"/>
                </a:solidFill>
                <a:latin typeface="Space Grotesk"/>
                <a:ea typeface="Space Grotesk"/>
                <a:cs typeface="Space Grotesk"/>
              </a:defRPr>
            </a:pPr>
            <a:r>
              <a:rPr sz="750" b="0">
                <a:solidFill>
                  <a:srgbClr val="9FF0E3"/>
                </a:solidFill>
                <a:latin typeface="Space Grotesk"/>
                <a:ea typeface="Space Grotesk"/>
                <a:cs typeface="Space Grotesk"/>
              </a:rPr>
              <a:t>typed owner intent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D95200-534D-476F-AA51-975B0B7A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47900"/>
            <a:ext cx="893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14288">
            <a:solidFill>
              <a:srgbClr val="00A99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4B450C-B14F-43BE-89D6-43C4B3A5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33625"/>
            <a:ext cx="2514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IMMUTABLE POLICY DIGEST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C40D83-7CE2-4D27-998D-30E89D87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62225"/>
            <a:ext cx="579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objective  •  success  •  permissions  •  budget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E9378D-E8E6-4913-8913-959E0113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05075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authority  •  evaluator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73C210-B634-4763-B383-E8C4622F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750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ISSUE-RESOLVER AGENT GRAPH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88FA22-113A-4136-800E-E6072F8E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1"/>
          </a:solidFill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61FEAB-CD96-4872-AB18-0F6CC2A5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Retrieve docs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18A323-513D-4782-992D-B98F4FBF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52775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03C"/>
          </a:solidFill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3AD209-D545-42CA-8E4F-3F79765C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956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Analyze issue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78D59D-3757-4728-B85F-84F0468B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52775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1"/>
          </a:solidFill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88A2C4-9C62-4748-ADA5-22898CA3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289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Verify required facts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E57B06-1067-426F-9D00-D628E8B6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62275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14288">
            <a:solidFill>
              <a:srgbClr val="00A99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835417-C8FB-4021-9F8D-C7C48EB9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57525"/>
            <a:ext cx="133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Propose action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7636FF-9B08-47A7-94A1-231ED12E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33775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14288">
            <a:solidFill>
              <a:srgbClr val="00A99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1733E6-9D33-4437-818E-B66A7EAC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29025"/>
            <a:ext cx="133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Cite evidence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1AEF9A-EFEB-48A6-ADBE-F23F17EA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52775"/>
            <a:ext cx="1924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9050">
            <a:solidFill>
              <a:srgbClr val="D15F3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2DA8D7-801E-4C2A-B85D-E14172C4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1695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750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RUN EVIDENCE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5AD3F1-94CD-4D73-9E59-18DA3649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718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facts + citations + trace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9A7824-BC89-4F53-8ADA-B4CB2445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05250"/>
            <a:ext cx="4286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75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ELIGIBLE EXECUTION LAYERS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D6798B-0829-4789-93E2-94AA603A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48125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14288">
            <a:solidFill>
              <a:srgbClr val="00A99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FAAB872-D059-4F72-8553-D59BB895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2432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Pioneer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CAB692-506A-4AE4-B19C-024777F0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4812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6A32CCA-3DBA-4368-A56E-C56CA513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243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750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EvoAgentX SEW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EF7AC2-86D7-4206-BC9A-9AFFF35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48125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9FD481-8A04-4FE1-81B6-9B203C6C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2432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Senso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1BF923-07D6-407A-B05B-56979E02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48125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33AAD0-513A-429E-9543-FEBCD0DD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243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Band HITL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B8DBFA-ED5A-49C7-A8F6-0F26CF3E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407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1"/>
          </a:solidFill>
          <a:ln xmlns:a="http://schemas.openxmlformats.org/drawingml/2006/main" w="19050">
            <a:solidFill>
              <a:srgbClr val="D15F3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123E6D4-6ACD-43D4-9DD5-A0BEA34B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147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Evaluate  →  compare  →  decide: promote / owner review / reject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833A52-D142-4C16-90F6-71056A67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29125"/>
            <a:ext cx="217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14288">
            <a:solidFill>
              <a:srgbClr val="00A99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5340578-7F44-4321-8617-AB4899AF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05325"/>
            <a:ext cx="2057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00A992"/>
                </a:solidFill>
                <a:latin typeface="Space Grotesk"/>
                <a:ea typeface="Space Grotesk"/>
                <a:cs typeface="Space Grotesk"/>
              </a:defRPr>
            </a:pPr>
            <a:r>
              <a:rPr sz="713" b="1">
                <a:solidFill>
                  <a:srgbClr val="00A992"/>
                </a:solidFill>
                <a:latin typeface="Space Grotesk"/>
                <a:ea typeface="Space Grotesk"/>
                <a:cs typeface="Space Grotesk"/>
              </a:rPr>
              <a:t>eligible  →  publish versioned release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BED32DE-DFF6-40AA-BC64-AFCFB7B9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29125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14288">
            <a:solidFill>
              <a:srgbClr val="D15F3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C0EB6C-7C97-4912-84BA-84181EFE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05325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713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failure  →  preserve baseline + rollback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CCA2EF2-C1AC-49E3-B9B5-ABEC302C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75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OFFLINE CYCLE  ↺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FFB2316-E6D1-4C23-BB66-2C32C92A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108204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1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F5455E1-1F7A-4668-8B9B-0ECB14D5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EVIDENCE + RELEASE HARNESS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289DE7C-6845-40B1-A374-3F6C0CCD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5300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rPr>
              <a:t>OUTCOME → ACTIAN MEMORY + REPLAY QA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A4B457B-8A34-4C51-8786-4A8D290C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E8FF6A3-46D9-43B5-9271-C0F30D60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2075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official docs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F312B32-4B2C-48B7-93AE-A9CC1FA3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29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17AC4E2-BC8E-4F91-A263-260C9EB8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72075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frozen cases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315133C-A0FB-4C50-A321-230FE73D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29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6D0FD38-9EEE-4234-BB1B-CEC19FB3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72075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run traces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A29F97B-863F-4629-988E-7843EE99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29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132DA21-D6DC-43CB-BEEA-98898C5F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72075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releases + outcomes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33662BC-26FA-4D4A-BA76-1B4B637B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9D639ED-2370-4A39-93ED-77A99048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1051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rPr>
              <a:t>retrieve  →  run  →  score  →  compare  →  release decision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F6104A-6C16-44C5-8863-222153AA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515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7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provenance  •  sealed held-out  •  unchanged digest  •  fail closed when evidence is missing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E175B79-3CDB-4821-8D7A-2844275A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3E649F9-E88D-490A-9F4B-32DC6210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521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OFFLINE EVOLUTION — prompts + sequential edges may change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D0EDAD8-F597-4D06-ABE5-56DD93DE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191250"/>
            <a:ext cx="548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LIVE OPERATION — the active version never edits itself</a:t>
            </a:r>
          </a:p>
        </p:txBody>
      </p:sp>
    </p:spTree>
    <p:extLst>
      <p:ext uri="{BB962C8B-B14F-4D97-AF65-F5344CB8AC3E}">
        <p14:creationId xmlns:p14="http://schemas.microsoft.com/office/powerpoint/2010/main" val="3585579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49668B-4E96-4600-89E2-5451BD01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EVALUATION SPEC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12E92-5895-4E8E-A5DA-DC268FB5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D83D1-6370-4151-A499-260E3537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97268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797268"/>
                </a:solidFill>
                <a:latin typeface="Space Grotesk"/>
                <a:ea typeface="Space Grotesk"/>
                <a:cs typeface="Space Grotesk"/>
              </a:rPr>
              <a:t>06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7A13F-23FE-48A3-99C4-05F00934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The locked issue corpus makes “self-evolving” falsifiable.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42839-897D-4FBA-95A6-FD151060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Locked corpus: 15 resolved EvoAgentX issues + official docs—never synthetic production answers.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D29BD-8116-400D-9571-5A9A053A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FROZEN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D0347-FA65-4042-ADC1-EF03BBC3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17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RELEASE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07472-2B6F-45FF-8276-092CC2FC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SEALED UNTIL FREEZE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CCDC8-F5D5-429B-81CF-37E3CB5D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6705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38A3D-A922-4914-BA2D-DD3B9E3F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9908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5F34"/>
          </a:solidFill>
          <a:ln xmlns:a="http://schemas.openxmlformats.org/drawingml/2006/main" w="0">
            <a:solidFill>
              <a:srgbClr val="D15F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1B914-8F39-4D35-A5AC-7401C4B6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33750"/>
            <a:ext cx="0" cy="1847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70CD1-9C39-4294-8779-028987E2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0" cy="1847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A3D65-8E1B-46D3-8A1D-C1BCB15E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72"/>
          </a:solidFill>
          <a:ln xmlns:a="http://schemas.openxmlformats.org/drawingml/2006/main" w="0">
            <a:solidFill>
              <a:srgbClr val="007F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1F95B-E750-4DB6-A391-CDFE27E1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01  TRAIN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F278A-1EBA-41F2-962B-321466AC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OPTIMIZER MAY SEE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B986A-75DC-4EC9-8259-FA5B16C3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240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8 cases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05DF5-E520-4FC8-A8BD-E8C5AAF2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335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REAL RESOLVED ISSUES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B675D-703F-44EA-A32F-CC82F49D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SEW evolves candidates on measured failures without touching the release rules.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A2FCA-26DB-4527-B96F-BE7D9B08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9739FF-5668-420C-81AE-875BBBBA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528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A992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00A992"/>
                </a:solidFill>
                <a:latin typeface="Space Grotesk"/>
                <a:ea typeface="Space Grotesk"/>
                <a:cs typeface="Space Grotesk"/>
              </a:rPr>
              <a:t>02  DEV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C3A379-7C49-4EDD-B3BC-77F545B3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7665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SELECT BEFORE HOLDOUT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0E6B3F-CC00-4D7B-A235-57D13B82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86200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240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4 cases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60A8DF-B0D1-4A4E-A435-B856E898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5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A992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1">
                <a:solidFill>
                  <a:srgbClr val="00A992"/>
                </a:solidFill>
                <a:latin typeface="Space Grotesk"/>
                <a:ea typeface="Space Grotesk"/>
                <a:cs typeface="Space Grotesk"/>
              </a:rPr>
              <a:t>FROZEN RUBRIC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17B2F-69FF-4068-A9D3-EC5E4916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Compare baseline and candidate; freeze the chosen version before sealed evaluation.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8DA866-DCAC-4733-B169-FA60E631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5F34"/>
          </a:solidFill>
          <a:ln xmlns:a="http://schemas.openxmlformats.org/drawingml/2006/main" w="0">
            <a:solidFill>
              <a:srgbClr val="D15F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B7573A-372C-4708-AFD0-2AE49248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03  HELD-OUT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98F7E-7144-454F-BA0B-24D29278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7665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THREE REPEATS EACH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D1CF3B-46BD-4E08-BCD3-12DA7120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86200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240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3 cases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F0C6C-7A0C-4121-AF07-2F0FE085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43400"/>
            <a:ext cx="335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UNSEEN UNTIL FREEZE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B16D7C-55A7-4A21-A67D-2EE9A45D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910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No regression; all hard gates pass; immutable policy digest stays unchanged.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ECD368-2752-44E5-B726-4AC6973D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742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2"/>
          </a:solidFill>
          <a:ln xmlns:a="http://schemas.openxmlformats.org/drawingml/2006/main" w="9525">
            <a:solidFill>
              <a:srgbClr val="007F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46C4BE-0E70-44B8-B310-FD509CE8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72100"/>
            <a:ext cx="3314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5F34"/>
          </a:solidFill>
          <a:ln xmlns:a="http://schemas.openxmlformats.org/drawingml/2006/main" w="9525">
            <a:solidFill>
              <a:srgbClr val="D15F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54922F-B42C-4403-B60A-ED2D377E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rPr>
              <a:t>PROMOTION THRESHOLD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090F93-3C22-4A1D-8327-C3743254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86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≥ +0.05 overall  ·  no held-out regression  ·  all hard gates pass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B57B5F-B1D0-4787-B9EF-8562603C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864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FAILURE → REJECT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8E127C-45D9-4D47-A302-4ED64280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9595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rollback target required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30163F-23A1-427C-A366-684E6CBC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Evaluation requirements—not claimed live outcome metrics.</a:t>
            </a:r>
          </a:p>
        </p:txBody>
      </p:sp>
    </p:spTree>
    <p:extLst>
      <p:ext uri="{BB962C8B-B14F-4D97-AF65-F5344CB8AC3E}">
        <p14:creationId xmlns:p14="http://schemas.microsoft.com/office/powerpoint/2010/main" val="178584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5F54D3-8562-4D02-8336-EE26AE55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FAIL-CLOSED SPONSOR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C9BC7-D7DF-4AE0-8B4C-F46EAF24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B743D-EF84-4F2E-B2F7-0BA479F7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97268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797268"/>
                </a:solidFill>
                <a:latin typeface="Space Grotesk"/>
                <a:ea typeface="Space Grotesk"/>
                <a:cs typeface="Space Grotesk"/>
              </a:rPr>
              <a:t>07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BF379-6B2C-4D8C-94B5-24220692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270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Each sponsor adapter owns one boundary in the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FB88F-AFDF-4249-A476-3C638262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Adapters are integrated; runtime claims require real configuration and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5F15A-4324-44B9-8AD7-D6251861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2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1"/>
          </a:solidFill>
          <a:ln xmlns:a="http://schemas.openxmlformats.org/drawingml/2006/main" w="9525">
            <a:solidFill>
              <a:srgbClr val="101A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B33DB-479A-460B-817F-B0606924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0275"/>
            <a:ext cx="1581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F3003-8F7C-4652-9829-68880B22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00275"/>
            <a:ext cx="2438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RUNTIME CAPABILITY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D3458-43A7-417E-80D5-21367B5E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00275"/>
            <a:ext cx="2514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WHY IT EXISTS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04468-88B5-4354-ACF1-CC31F791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0275"/>
            <a:ext cx="3371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rPr>
              <a:t>REQUIRED LIVE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AD4BC-9687-4B73-BE3F-B9B5C0E6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E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4693D-BCFE-4F0E-AAC3-B460CFE6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9525">
            <a:solidFill>
              <a:srgbClr val="00A9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BD510-0DBB-4E97-B0B3-31B21B40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MODEL + KNOWLEDGE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C8ABF-901C-4082-A947-D25FB1C0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43175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Pioneer · Senso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5E86C-748C-47CA-B75A-FB9EEBD4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527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Exact model route + cited official context.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C8DA1-E94A-4CC7-A1D0-8F63F1D8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241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007F72"/>
                </a:solidFill>
                <a:latin typeface="Space Grotesk"/>
                <a:ea typeface="Space Grotesk"/>
                <a:cs typeface="Space Grotesk"/>
              </a:rPr>
              <a:t>Gateway receipt + Senso citation IDs.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A849B-359D-4A57-A56D-82BC6B73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A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C513D4-6410-4283-9F15-29B79BF8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MEMORY + HUMAN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EFD90-FBA3-4FB0-924E-DC2BB507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67075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Actian · Band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70E9D-5F3A-4758-9F57-F6346328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766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Searchable failures + correlated HITL.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282B12-76BD-419D-835F-794848B7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480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Persisted outcome + Band response.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CFA5A2-6EE8-475A-83DB-DBBDFD35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C3D2A9-F699-4AD2-B8FC-DFAEA08B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RELEASE + QA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2F6A8A-F6EA-4BF6-BAA9-A1F62754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90975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Guild.ai · Replay.io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DABF8C-613D-4878-A9C2-6F275892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00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Publish approved version + verify browser journey.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C2102A-D2F5-4262-A3C9-8ECAB415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719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Published release + Replay session.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AFC45B-B6AA-4416-BC77-C73001D8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A"/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1B3BB3-C83B-4CB9-BDC4-791C151C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EVOLUTION 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30AC96-5840-44C3-8D60-86BC7B4D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14875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EvoAgentX · Evox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393C17-24FA-430E-B4E1-69C57E54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7244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0">
                <a:solidFill>
                  <a:srgbClr val="655F57"/>
                </a:solidFill>
                <a:latin typeface="Space Grotesk"/>
                <a:ea typeface="Space Grotesk"/>
                <a:cs typeface="Space Grotesk"/>
              </a:rPr>
              <a:t>Generate/evolve candidate + govern promotion.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CCED9E-314A-4DD5-BB94-8554D64F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958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101820"/>
                </a:solidFill>
                <a:latin typeface="Space Grotesk"/>
                <a:ea typeface="Space Grotesk"/>
                <a:cs typeface="Space Grotesk"/>
              </a:rPr>
              <a:t>Graph diff + frozen evaluation + decision receipt.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C8508B-A5C6-4BF2-A75C-1A4F819D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14550"/>
            <a:ext cx="0" cy="3200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D84B19-A5B4-4889-A626-143FC5EE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14550"/>
            <a:ext cx="0" cy="3200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2283BC-CE70-43E7-9187-1DCCDA3B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0" cy="3200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E1EE18-66DE-4B0F-88BA-D6AC1DD4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1"/>
          </a:solidFill>
          <a:ln xmlns:a="http://schemas.openxmlformats.org/drawingml/2006/main" w="9525">
            <a:solidFill>
              <a:srgbClr val="101A2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22B390-9AF1-4F8E-95A3-726671E1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626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2F5DB6-BD4E-42AA-80C5-789885A1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rPr>
              <a:t>TABLE STAKES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42EE11-CD22-4ED4-B2AA-48007E25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481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Real credentials · explicit health · tenant isolation · audit trail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F5614A-3A5A-4DB2-B0A3-2F750E51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816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A992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00A992"/>
                </a:solidFill>
                <a:latin typeface="Space Grotesk"/>
                <a:ea typeface="Space Grotesk"/>
                <a:cs typeface="Space Grotesk"/>
              </a:rPr>
              <a:t>EVOX WEDGE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EB93F2-D440-44BC-B101-7D8E51B8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7912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rPr>
              <a:t>Required chain: mission → approved release → rollback</a:t>
            </a:r>
          </a:p>
        </p:txBody>
      </p:sp>
    </p:spTree>
    <p:extLst>
      <p:ext uri="{BB962C8B-B14F-4D97-AF65-F5344CB8AC3E}">
        <p14:creationId xmlns:p14="http://schemas.microsoft.com/office/powerpoint/2010/main" val="5600760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60677F-0813-4D5A-99BA-DCE89423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rPr>
              <a:t>VERIFIED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736DC-D71A-463B-AFB1-C4844A09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36C55-FA0D-47C6-ACA1-67877C63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8B1B5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A8B1B5"/>
                </a:solidFill>
                <a:latin typeface="Space Grotesk"/>
                <a:ea typeface="Space Grotesk"/>
                <a:cs typeface="Space Grotesk"/>
              </a:rPr>
              <a:t>08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50640-723F-4A7B-998C-165F2428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30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The integrated build refuses to bluff.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3C75E-FDFE-49E7-9CB3-687B6097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4CCC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C4CCCF"/>
                </a:solidFill>
                <a:latin typeface="Space Grotesk"/>
                <a:ea typeface="Space Grotesk"/>
                <a:cs typeface="Space Grotesk"/>
              </a:rPr>
              <a:t>At revision f5da248, persistence, adapters, cockpit, and the AWS lane are integrated; end-to-end jobs and live proof remain pending.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BCF72-9E62-4A54-AB1D-00F34294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B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D18AC-6020-4605-9E8D-5B6E2072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6"/>
          </a:solidFill>
          <a:ln xmlns:a="http://schemas.openxmlformats.org/drawingml/2006/main" w="9525">
            <a:solidFill>
              <a:srgbClr val="55D7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65BAF-14BB-47D7-A045-C7ACC655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rPr>
              <a:t>45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6E38D-C234-4F2B-B273-30CEFDBF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unit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4A244-7D34-4654-A22B-D58691C3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7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packages/api/tests/unit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EEFD0-F9CB-4C76-919A-F14F8B93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2415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B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91939-0FDF-4252-9245-B35339A5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241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7E6"/>
          </a:solidFill>
          <a:ln xmlns:a="http://schemas.openxmlformats.org/drawingml/2006/main" w="9525">
            <a:solidFill>
              <a:srgbClr val="55D7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979FA-236C-4B09-BF96-BD534891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38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rPr>
              <a:t>24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011C4-0B18-453E-B958-A8901603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19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contract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2EB05-1083-4107-8BBC-49A2160D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7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make test-contract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2EE5C-13B8-4DE9-96E5-9CA9F8E6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B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4E26D-292A-4716-AA20-6C3832E5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5F34"/>
          </a:solidFill>
          <a:ln xmlns:a="http://schemas.openxmlformats.org/drawingml/2006/main" w="9525">
            <a:solidFill>
              <a:srgbClr val="D15F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49B91-7534-40B0-9246-63835058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49C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B49C"/>
                </a:solidFill>
                <a:latin typeface="Space Grotesk"/>
                <a:ea typeface="Space Grotesk"/>
                <a:cs typeface="Space Grotesk"/>
              </a:rPr>
              <a:t>4 passed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FFD11-9166-4F79-9DCE-4265A5E4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194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integration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3AFEA-3CC9-4AE4-8F3B-A15F07AB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7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make test-integration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F0662-001F-4ABF-BB52-51D47C6A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74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B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492D49-14EC-40B2-B9C4-286A1639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1036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CURRENT VERIFIED SURFACE — NOT A FUNNEL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81CE28-A898-4A6F-B7AB-52266A49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E57CD2-75F2-4AB5-98DE-C1E926EC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defRPr>
            </a:pPr>
            <a:r>
              <a:rPr sz="195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rPr>
              <a:t>409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C0B70A-4DFC-4696-A6BB-500AE61E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immutable-policy conflicts are explicit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8E0E58-4F61-4421-8749-30356A8A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053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rPr>
              <a:t>503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9F0FE6-AB59-43ED-92D9-8D92E8C1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624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unavailable integrations are explicit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F659AD-EBD7-4089-9C08-A61DE44C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744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039"/>
          </a:solidFill>
          <a:ln xmlns:a="http://schemas.openxmlformats.org/drawingml/2006/main" w="9525">
            <a:solidFill>
              <a:srgbClr val="00A99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7C39D4-B8BE-4F5D-9E1F-8F3ADD84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rPr>
              <a:t>CURRENT 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DF9D53-C802-4BD9-96C2-5FC66D93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Components integrated; job dispatch + live proof remain pending.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33333A-D2F3-4934-A932-43F161A8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14900"/>
            <a:ext cx="405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rPr>
              <a:t>NO DEMO FICTION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0F5232-CF65-4491-8E7B-9B069E65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81600"/>
            <a:ext cx="472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7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No production mock · no synthetic fallback · no provider substitution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04C699-4708-499F-A7C4-65BA69C8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24EFC1-FB70-425D-99F3-8D3C03EA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C4CCCF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0">
                <a:solidFill>
                  <a:srgbClr val="C4CCCF"/>
                </a:solidFill>
                <a:latin typeface="Space Grotesk"/>
                <a:ea typeface="Space Grotesk"/>
                <a:cs typeface="Space Grotesk"/>
              </a:rPr>
              <a:t>Source: 45 unit · 24 contract · 4 integration · 5 corpus · 4 web · build.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EB4C1D-C8CA-453F-BA2B-984BBB07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3880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C4CCCF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0">
                <a:solidFill>
                  <a:srgbClr val="C4CCCF"/>
                </a:solidFill>
                <a:latin typeface="Space Grotesk"/>
                <a:ea typeface="Space Grotesk"/>
                <a:cs typeface="Space Grotesk"/>
              </a:rPr>
              <a:t>Real sponsor credentials are required at runtime.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1B36C4-56CB-4D49-A031-94AAB110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C4CCCF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0">
                <a:solidFill>
                  <a:srgbClr val="C4CCCF"/>
                </a:solidFill>
                <a:latin typeface="Space Grotesk"/>
                <a:ea typeface="Space Grotesk"/>
                <a:cs typeface="Space Grotesk"/>
              </a:rPr>
              <a:t>No end-to-end job handlers; public deployment is absent.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AE8D46-39AC-4C1E-B121-1FBBE799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62650"/>
            <a:ext cx="529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C4CCCF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0">
                <a:solidFill>
                  <a:srgbClr val="C4CCCF"/>
                </a:solidFill>
                <a:latin typeface="Space Grotesk"/>
                <a:ea typeface="Space Grotesk"/>
                <a:cs typeface="Space Grotesk"/>
              </a:rPr>
              <a:t>No live sponsor, Replay, or promotion result is claimed.</a:t>
            </a:r>
          </a:p>
        </p:txBody>
      </p:sp>
    </p:spTree>
    <p:extLst>
      <p:ext uri="{BB962C8B-B14F-4D97-AF65-F5344CB8AC3E}">
        <p14:creationId xmlns:p14="http://schemas.microsoft.com/office/powerpoint/2010/main" val="10231499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F5233C-4F7E-495B-9304-FFFA01F1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rPr>
              <a:t>GENERAL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19494-F6D7-454A-8701-133326D7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E63C1-7764-401A-B21A-78C72A1A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8B1B5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A8B1B5"/>
                </a:solidFill>
                <a:latin typeface="Space Grotesk"/>
                <a:ea typeface="Space Grotesk"/>
                <a:cs typeface="Space Grotesk"/>
              </a:rPr>
              <a:t>09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F1647-2C58-401A-BF6F-D69623B3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Any measurable mission can become a governed learning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1BD3E-1861-43B8-96D2-11A3AD60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The issue resolver is the first proof—not the boundary of the product.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3367C-C473-4657-971F-1BD8C7E6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744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1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02F38-4677-4327-BE2F-CE5E9A63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52750"/>
            <a:ext cx="4191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CC352-7691-4634-8B50-A8287FA0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67200"/>
            <a:ext cx="4191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3C2F6-4951-4031-9EE4-15108AD7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092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D7E6"/>
          </a:solidFill>
          <a:ln xmlns:a="http://schemas.openxmlformats.org/drawingml/2006/main" w="0">
            <a:solidFill>
              <a:srgbClr val="55D7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F77B0-B8FD-42CD-9C28-2BBFAE2A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29943-B9FF-4FE9-B090-DEEEA5AC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50545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E14F8-5FEB-48F3-8DF2-4A64A91F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0545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0">
            <a:solidFill>
              <a:srgbClr val="00A9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A7A31-C41F-4B24-8529-FC4F3409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81700"/>
            <a:ext cx="91059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4404A"/>
          </a:solidFill>
          <a:ln xmlns:a="http://schemas.openxmlformats.org/drawingml/2006/main" w="0">
            <a:solidFill>
              <a:srgbClr val="244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285E2C-4A96-43CD-870E-939CE4C7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00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0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81228-27EC-4A98-97C7-D7D37228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FB206-82EB-416C-9553-C806AD00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527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DEFINE A 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F4A71-D311-4643-B5BC-46BA68BB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Objective, success, evidence, tools, budgets, HITL.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D9404-0883-4F43-8F17-44DE14B5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300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7E475-E82B-4CDC-B8CF-D9C3FEAC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5C6E2-8DF0-4B09-B18A-6B784E97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6715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FORGE + 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61A6E8-30F7-4F50-907A-DD19296E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529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EvoAgentX generates; Evox evaluates and gates.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8913F6-3CC2-47FD-B4C0-2B300CCE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300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9DEA9B-F2C0-4724-AD2F-A176A2A8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57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41FD6-FD71-4ED9-84FF-AA067C41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04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OPERATE + LEARN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B8F908-5883-4A2A-A084-5C3D36F6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8620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Real feedback queues the next offline candidate cycle.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5DBA5F-9C6F-425B-B992-81AE227D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33147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F27"/>
          </a:solidFill>
          <a:ln xmlns:a="http://schemas.openxmlformats.org/drawingml/2006/main" w="19050">
            <a:solidFill>
              <a:srgbClr val="55D7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87A539-2A8B-428F-BC03-8E20AD5A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7180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rPr>
              <a:t>VERSIONED PRODUCT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925AD0-4536-4673-BB26-8F934E6C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766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28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EVOX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1EE016-CBB6-462D-91C8-C700E87C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71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rPr>
              <a:t>MISSION-TO-AGENT FOUNDRY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32288F-9EE7-4FC3-8EFF-6E95C811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5290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Candidates learn. Authority stays fixed.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7C4387-3399-4F2F-AEB0-E600F58A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rPr>
              <a:t>GOVERNED LEARNING LOOP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B5E5C3-5840-4960-8005-B20E5D59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0065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D8F5EF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D8F5EF"/>
                </a:solidFill>
                <a:latin typeface="Space Grotesk"/>
                <a:ea typeface="Space Grotesk"/>
                <a:cs typeface="Space Grotesk"/>
              </a:rPr>
              <a:t>Outcomes improve candidates—not the rules.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C8A2C0-67CB-4C74-B707-057C96BE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DEFINE + FORGE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ABF963-ED4D-48BE-BFDE-21E08F86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673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RUN REAL WORK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AFE6EE-3196-4DC2-9C67-B8C98FD8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4673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EVALUATE + GATE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6CC1E0-F567-4F4C-BAAB-DB6E268C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RELEASE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4E8D20-1C98-4765-82AE-C7196EA6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24550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MEASURED OUTCOMES RETURN TO THE NEXT OFFLINE CYCLE</a:t>
            </a:r>
          </a:p>
        </p:txBody>
      </p:sp>
    </p:spTree>
    <p:extLst>
      <p:ext uri="{BB962C8B-B14F-4D97-AF65-F5344CB8AC3E}">
        <p14:creationId xmlns:p14="http://schemas.microsoft.com/office/powerpoint/2010/main" val="17536165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CBB277-B379-4AD1-B321-7F522CCA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7EE6D4"/>
                </a:solidFill>
                <a:latin typeface="Space Grotesk"/>
                <a:ea typeface="Space Grotesk"/>
                <a:cs typeface="Space Grotesk"/>
              </a:rPr>
              <a:t>JUDGING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03665-9726-4D0B-B7BE-1EFFC647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48617-89DD-4410-85A4-F245FBF7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8B1B5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A8B1B5"/>
                </a:solidFill>
                <a:latin typeface="Space Grotesk"/>
                <a:ea typeface="Space Grotesk"/>
                <a:cs typeface="Space Grotesk"/>
              </a:rPr>
              <a:t>10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0041A-D8F3-44C2-8DCB-D10ECBF1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27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One mission. One candidate. One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FC272-553D-456C-910F-99A93E3F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Evox makes self-evolution legible: what changed, why it changed, and why it earned release.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BA45D-E115-4E44-BE4A-8349A324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074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rPr>
              <a:t>WHAT JUDGES SHOULD REMEMBER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EC71A-E881-4317-ACCF-934D3360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DD4F9-1E6E-4516-B626-E50B1DC4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241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60ED4-4749-4883-9758-0640E10E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6736F-52E5-44DE-856F-67DFF440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92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00A992"/>
                </a:solidFill>
                <a:latin typeface="Space Grotesk"/>
                <a:ea typeface="Space Grotesk"/>
                <a:cs typeface="Space Grotesk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6FF60-8C0F-42CB-8198-2DE33811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99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BAF14-528E-4A4B-AAE3-54FA50F2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320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INTEGRATED 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CACAB-04EE-4A7F-B4D3-96C29B2D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92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00A992"/>
                </a:solidFill>
                <a:latin typeface="Space Grotesk"/>
                <a:ea typeface="Space Grotesk"/>
                <a:cs typeface="Space Grotesk"/>
              </a:rPr>
              <a:t>contracts · adapters · persistence · cockpit · AWS 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F1ECA-0A37-4636-AB66-69983CC4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320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Seventy-three API tests pass; web build and Terraform validation are green. Job dispatch and live proof remain pending.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67F05-22D5-4E97-9D3B-D53DD950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00E77-901C-4272-8D42-E20BE070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38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D7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BD925-6B15-4DAA-89E4-2CF246D6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AUTONOMY CONTRACT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A7897-0696-41F9-A1C6-DF4832D0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481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55D7E6"/>
                </a:solidFill>
                <a:latin typeface="Space Grotesk"/>
                <a:ea typeface="Space Grotesk"/>
                <a:cs typeface="Space Grotesk"/>
              </a:rPr>
              <a:t>offline evolution · fixed owner authority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9E44A1-1FDF-4554-8BF3-2FD885AA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6245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The target system may improve its procedure; it cannot rewrite permissions, evaluator, or owner authority.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E6144-223F-4945-B08D-E9896504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571C9-4341-4F93-9F6C-081BA2B6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300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5F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239EF9-9F50-4E27-8883-E862FAC7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346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DESIGNED TO GENERALIZE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FA353-B442-4A7D-8559-19D96F89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8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D15F34"/>
                </a:solidFill>
                <a:latin typeface="Space Grotesk"/>
                <a:ea typeface="Space Grotesk"/>
                <a:cs typeface="Space Grotesk"/>
              </a:rPr>
              <a:t>issue resolver first · measurable missions next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02B9A2-D594-4372-94FF-334362C5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62450"/>
            <a:ext cx="3467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The same mission, evidence, gate, release, and rollback contract is intended to apply beyond GitHub issues.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9897B-88CD-48ED-B32B-AD4D4D46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744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1"/>
          </a:solidFill>
          <a:ln xmlns:a="http://schemas.openxmlformats.org/drawingml/2006/main" w="9525">
            <a:solidFill>
              <a:srgbClr val="2440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5A61E0-ADA2-4B68-8F76-B3CD82C9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2"/>
          </a:solidFill>
          <a:ln xmlns:a="http://schemas.openxmlformats.org/drawingml/2006/main" w="9525">
            <a:solidFill>
              <a:srgbClr val="00A99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0247C7-BAA1-42E0-BEFB-65F38674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9FF0E3"/>
                </a:solidFill>
                <a:latin typeface="Space Grotesk"/>
                <a:ea typeface="Space Grotesk"/>
                <a:cs typeface="Space Grotesk"/>
              </a:rPr>
              <a:t>ONE PRODUCT, ONE PROMISE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90016A-1DCE-4043-8A49-3898B66E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81650"/>
            <a:ext cx="796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Agent systems may improve their procedure. Owners keep the constitution.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AE8224-7E72-493D-BE80-19A14721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24550"/>
            <a:ext cx="796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AEB7BA"/>
                </a:solidFill>
                <a:latin typeface="Space Grotesk"/>
                <a:ea typeface="Space Grotesk"/>
                <a:cs typeface="Space Grotesk"/>
              </a:rPr>
              <a:t>EvoAgentX evolves candidates. Evox governs release authority.</a:t>
            </a:r>
          </a:p>
        </p:txBody>
      </p:sp>
    </p:spTree>
    <p:extLst>
      <p:ext uri="{BB962C8B-B14F-4D97-AF65-F5344CB8AC3E}">
        <p14:creationId xmlns:p14="http://schemas.microsoft.com/office/powerpoint/2010/main" val="152498019"/>
      </p:ext>
    </p:extLst>
  </p:cSld>
</p:sld>
</file>

<file path=ppt/theme/theme1.xml><?xml version="1.0" encoding="utf-8"?>
<a:theme xmlns:a="http://schemas.openxmlformats.org/drawingml/2006/main" name="ChatGPT">
  <a:themeElements>
    <a:clrScheme name="GORGOS Editorial">
      <a:dk1>
        <a:srgbClr val="0B1014"/>
      </a:dk1>
      <a:lt1>
        <a:srgbClr val="FFFFFF"/>
      </a:lt1>
      <a:dk2>
        <a:srgbClr val="101A21"/>
      </a:dk2>
      <a:lt2>
        <a:srgbClr val="F3EFE7"/>
      </a:lt2>
      <a:accent1>
        <a:srgbClr val="00A992"/>
      </a:accent1>
      <a:accent2>
        <a:srgbClr val="55D7E6"/>
      </a:accent2>
      <a:accent3>
        <a:srgbClr val="D15F34"/>
      </a:accent3>
      <a:accent4>
        <a:srgbClr val="007F72"/>
      </a:accent4>
      <a:accent5>
        <a:srgbClr val="16262F"/>
      </a:accent5>
      <a:accent6>
        <a:srgbClr val="655F57"/>
      </a:accent6>
      <a:hlink>
        <a:srgbClr val="007F72"/>
      </a:hlink>
      <a:folHlink>
        <a:srgbClr val="D15F3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ORGO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2026-07-24T22:24:51.6880000Z</dcterms:created>
  <dcterms:modified xsi:type="dcterms:W3CDTF">2026-07-24T22:24:51.6880000Z</dcterms:modified>
</coreProperties>
</file>